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9"/>
  </p:notesMasterIdLst>
  <p:sldIdLst>
    <p:sldId id="256" r:id="rId2"/>
    <p:sldId id="318" r:id="rId3"/>
    <p:sldId id="272" r:id="rId4"/>
    <p:sldId id="306" r:id="rId5"/>
    <p:sldId id="260" r:id="rId6"/>
    <p:sldId id="317" r:id="rId7"/>
    <p:sldId id="263" r:id="rId8"/>
    <p:sldId id="311" r:id="rId9"/>
    <p:sldId id="312" r:id="rId10"/>
    <p:sldId id="313" r:id="rId11"/>
    <p:sldId id="314" r:id="rId12"/>
    <p:sldId id="315" r:id="rId13"/>
    <p:sldId id="316" r:id="rId14"/>
    <p:sldId id="262" r:id="rId15"/>
    <p:sldId id="309" r:id="rId16"/>
    <p:sldId id="319" r:id="rId17"/>
    <p:sldId id="268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Cascadia Code" panose="020B0609020000020004" pitchFamily="49" charset="0"/>
      <p:regular r:id="rId21"/>
      <p:bold r:id="rId22"/>
      <p:italic r:id="rId23"/>
      <p:boldItalic r:id="rId24"/>
    </p:embeddedFont>
    <p:embeddedFont>
      <p:font typeface="Lexend" panose="020B0604020202020204" charset="0"/>
      <p:regular r:id="rId25"/>
      <p:bold r:id="rId26"/>
    </p:embeddedFont>
    <p:embeddedFont>
      <p:font typeface="Lexend Black" panose="020B0604020202020204" charset="0"/>
      <p:bold r:id="rId27"/>
    </p:embeddedFont>
    <p:embeddedFont>
      <p:font typeface="Lexend Light" panose="020B0604020202020204" charset="0"/>
      <p:regular r:id="rId28"/>
      <p:bold r:id="rId29"/>
    </p:embeddedFont>
    <p:embeddedFont>
      <p:font typeface="Nunito Light" pitchFamily="2" charset="-52"/>
      <p:regular r:id="rId30"/>
      <p:italic r:id="rId31"/>
    </p:embeddedFont>
    <p:embeddedFont>
      <p:font typeface="Quicksand" panose="020B0604020202020204" charset="0"/>
      <p:regular r:id="rId32"/>
      <p:bold r:id="rId33"/>
    </p:embeddedFont>
    <p:embeddedFont>
      <p:font typeface="Quicksand Medium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7AD5CD-4F39-4C49-A878-D5542484D067}">
  <a:tblStyle styleId="{127AD5CD-4F39-4C49-A878-D5542484D0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114" y="12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6063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>
          <a:extLst>
            <a:ext uri="{FF2B5EF4-FFF2-40B4-BE49-F238E27FC236}">
              <a16:creationId xmlns:a16="http://schemas.microsoft.com/office/drawing/2014/main" id="{2E2CFFDE-F769-A03D-9262-DAD04CE5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:notes">
            <a:extLst>
              <a:ext uri="{FF2B5EF4-FFF2-40B4-BE49-F238E27FC236}">
                <a16:creationId xmlns:a16="http://schemas.microsoft.com/office/drawing/2014/main" id="{67A077BC-FEB5-5BF8-6372-1A14AD626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p:notes">
            <a:extLst>
              <a:ext uri="{FF2B5EF4-FFF2-40B4-BE49-F238E27FC236}">
                <a16:creationId xmlns:a16="http://schemas.microsoft.com/office/drawing/2014/main" id="{E5279B52-6716-8EB2-B53C-6730E619A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6859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67cae068b5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67cae068b5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64fb4f3ec5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164fb4f3ec5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64fb4f3ec5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64fb4f3ec5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>
          <a:extLst>
            <a:ext uri="{FF2B5EF4-FFF2-40B4-BE49-F238E27FC236}">
              <a16:creationId xmlns:a16="http://schemas.microsoft.com/office/drawing/2014/main" id="{5FCFB113-5E10-48D0-A9BF-FB972EC2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64fb4f3ec5_0_317:notes">
            <a:extLst>
              <a:ext uri="{FF2B5EF4-FFF2-40B4-BE49-F238E27FC236}">
                <a16:creationId xmlns:a16="http://schemas.microsoft.com/office/drawing/2014/main" id="{D10DA0EF-5847-C9C6-93B7-584FBDFD9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164fb4f3ec5_0_317:notes">
            <a:extLst>
              <a:ext uri="{FF2B5EF4-FFF2-40B4-BE49-F238E27FC236}">
                <a16:creationId xmlns:a16="http://schemas.microsoft.com/office/drawing/2014/main" id="{FB918517-1B7B-87DB-23FA-4DBA10831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6791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41cebdc8d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41cebdc8d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164fb4f3ec5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164fb4f3ec5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64fb4f3ec5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164fb4f3ec5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>
          <a:extLst>
            <a:ext uri="{FF2B5EF4-FFF2-40B4-BE49-F238E27FC236}">
              <a16:creationId xmlns:a16="http://schemas.microsoft.com/office/drawing/2014/main" id="{D142A90C-1D0D-CA78-449A-71A82A57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64fb4f3ec5_0_224:notes">
            <a:extLst>
              <a:ext uri="{FF2B5EF4-FFF2-40B4-BE49-F238E27FC236}">
                <a16:creationId xmlns:a16="http://schemas.microsoft.com/office/drawing/2014/main" id="{1785231D-D81A-347E-8E66-3E9F6CC3F5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164fb4f3ec5_0_224:notes">
            <a:extLst>
              <a:ext uri="{FF2B5EF4-FFF2-40B4-BE49-F238E27FC236}">
                <a16:creationId xmlns:a16="http://schemas.microsoft.com/office/drawing/2014/main" id="{89E2D5D3-2457-7C83-47CA-93F12EA03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523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66fee114cd_0_220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66fee114cd_0_220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21550" y="1546400"/>
            <a:ext cx="7564500" cy="18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21550" y="3803425"/>
            <a:ext cx="20259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None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5400000">
            <a:off x="7953025" y="26425"/>
            <a:ext cx="231076" cy="541423"/>
            <a:chOff x="7600750" y="792675"/>
            <a:chExt cx="231076" cy="541423"/>
          </a:xfrm>
        </p:grpSpPr>
        <p:sp>
          <p:nvSpPr>
            <p:cNvPr id="12" name="Google Shape;12;p2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 rot="5400000">
            <a:off x="443075" y="4547275"/>
            <a:ext cx="231076" cy="541423"/>
            <a:chOff x="7600750" y="792675"/>
            <a:chExt cx="231076" cy="541423"/>
          </a:xfrm>
        </p:grpSpPr>
        <p:sp>
          <p:nvSpPr>
            <p:cNvPr id="21" name="Google Shape;21;p2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222025" y="1786300"/>
            <a:ext cx="5067600" cy="17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1222025" y="84430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>
                <a:solidFill>
                  <a:schemeClr val="lt2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1222025" y="3628600"/>
            <a:ext cx="23361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 Medium"/>
                <a:ea typeface="Quicksand Medium"/>
                <a:cs typeface="Quicksand Medium"/>
                <a:sym typeface="Quicksand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5400000">
            <a:off x="5903375" y="-7975"/>
            <a:ext cx="231076" cy="541423"/>
            <a:chOff x="7600750" y="792675"/>
            <a:chExt cx="231076" cy="541423"/>
          </a:xfrm>
        </p:grpSpPr>
        <p:sp>
          <p:nvSpPr>
            <p:cNvPr id="34" name="Google Shape;34;p3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3"/>
          <p:cNvGrpSpPr/>
          <p:nvPr/>
        </p:nvGrpSpPr>
        <p:grpSpPr>
          <a:xfrm rot="5400000">
            <a:off x="1271476" y="4361231"/>
            <a:ext cx="96422" cy="813001"/>
            <a:chOff x="7600750" y="792675"/>
            <a:chExt cx="64200" cy="541423"/>
          </a:xfrm>
        </p:grpSpPr>
        <p:sp>
          <p:nvSpPr>
            <p:cNvPr id="43" name="Google Shape;43;p3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/>
          <p:nvPr/>
        </p:nvSpPr>
        <p:spPr>
          <a:xfrm>
            <a:off x="0" y="0"/>
            <a:ext cx="336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720000" y="1154539"/>
            <a:ext cx="7704000" cy="4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51" name="Google Shape;51;p4"/>
          <p:cNvGrpSpPr/>
          <p:nvPr/>
        </p:nvGrpSpPr>
        <p:grpSpPr>
          <a:xfrm rot="5400000">
            <a:off x="458763" y="4556075"/>
            <a:ext cx="231076" cy="541423"/>
            <a:chOff x="7600750" y="792675"/>
            <a:chExt cx="231076" cy="541423"/>
          </a:xfrm>
        </p:grpSpPr>
        <p:sp>
          <p:nvSpPr>
            <p:cNvPr id="52" name="Google Shape;52;p4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4"/>
          <p:cNvSpPr/>
          <p:nvPr/>
        </p:nvSpPr>
        <p:spPr>
          <a:xfrm>
            <a:off x="8602600" y="0"/>
            <a:ext cx="541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4"/>
          <p:cNvGrpSpPr/>
          <p:nvPr/>
        </p:nvGrpSpPr>
        <p:grpSpPr>
          <a:xfrm rot="5400000">
            <a:off x="1080676" y="-121719"/>
            <a:ext cx="96422" cy="813001"/>
            <a:chOff x="7600750" y="792675"/>
            <a:chExt cx="64200" cy="541423"/>
          </a:xfrm>
        </p:grpSpPr>
        <p:sp>
          <p:nvSpPr>
            <p:cNvPr id="62" name="Google Shape;62;p4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7793475" y="0"/>
            <a:ext cx="13506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722375" y="44502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1"/>
          </p:nvPr>
        </p:nvSpPr>
        <p:spPr>
          <a:xfrm>
            <a:off x="722375" y="1689475"/>
            <a:ext cx="3735300" cy="24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>
            <a:spLocks noGrp="1"/>
          </p:cNvSpPr>
          <p:nvPr>
            <p:ph type="pic" idx="2"/>
          </p:nvPr>
        </p:nvSpPr>
        <p:spPr>
          <a:xfrm>
            <a:off x="5065300" y="1373025"/>
            <a:ext cx="2964600" cy="29646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8" name="Google Shape;108;p7"/>
          <p:cNvGrpSpPr/>
          <p:nvPr/>
        </p:nvGrpSpPr>
        <p:grpSpPr>
          <a:xfrm rot="10800000">
            <a:off x="414851" y="133006"/>
            <a:ext cx="96422" cy="813001"/>
            <a:chOff x="7600750" y="792675"/>
            <a:chExt cx="64200" cy="541423"/>
          </a:xfrm>
        </p:grpSpPr>
        <p:sp>
          <p:nvSpPr>
            <p:cNvPr id="109" name="Google Shape;109;p7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7"/>
          <p:cNvGrpSpPr/>
          <p:nvPr/>
        </p:nvGrpSpPr>
        <p:grpSpPr>
          <a:xfrm rot="5400000">
            <a:off x="1015225" y="4615550"/>
            <a:ext cx="231076" cy="541423"/>
            <a:chOff x="7600750" y="792675"/>
            <a:chExt cx="231076" cy="541423"/>
          </a:xfrm>
        </p:grpSpPr>
        <p:sp>
          <p:nvSpPr>
            <p:cNvPr id="114" name="Google Shape;114;p7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7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7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7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7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subTitle" idx="1"/>
          </p:nvPr>
        </p:nvSpPr>
        <p:spPr>
          <a:xfrm>
            <a:off x="3960175" y="1348375"/>
            <a:ext cx="38520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2"/>
          </p:nvPr>
        </p:nvSpPr>
        <p:spPr>
          <a:xfrm>
            <a:off x="3960175" y="2457675"/>
            <a:ext cx="38520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3"/>
          </p:nvPr>
        </p:nvSpPr>
        <p:spPr>
          <a:xfrm>
            <a:off x="3960175" y="3566975"/>
            <a:ext cx="38520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16"/>
          <p:cNvSpPr txBox="1">
            <a:spLocks noGrp="1"/>
          </p:cNvSpPr>
          <p:nvPr>
            <p:ph type="subTitle" idx="4"/>
          </p:nvPr>
        </p:nvSpPr>
        <p:spPr>
          <a:xfrm>
            <a:off x="1348375" y="1348375"/>
            <a:ext cx="20955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7" name="Google Shape;257;p16"/>
          <p:cNvSpPr txBox="1">
            <a:spLocks noGrp="1"/>
          </p:cNvSpPr>
          <p:nvPr>
            <p:ph type="subTitle" idx="5"/>
          </p:nvPr>
        </p:nvSpPr>
        <p:spPr>
          <a:xfrm>
            <a:off x="1351197" y="2457675"/>
            <a:ext cx="20955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6"/>
          </p:nvPr>
        </p:nvSpPr>
        <p:spPr>
          <a:xfrm>
            <a:off x="1348375" y="3566975"/>
            <a:ext cx="20955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59" name="Google Shape;259;p16"/>
          <p:cNvGrpSpPr/>
          <p:nvPr/>
        </p:nvGrpSpPr>
        <p:grpSpPr>
          <a:xfrm rot="-5400000">
            <a:off x="8266976" y="-144844"/>
            <a:ext cx="96422" cy="813001"/>
            <a:chOff x="7600750" y="792675"/>
            <a:chExt cx="64200" cy="541423"/>
          </a:xfrm>
        </p:grpSpPr>
        <p:sp>
          <p:nvSpPr>
            <p:cNvPr id="260" name="Google Shape;260;p16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64" name="Google Shape;264;p16"/>
          <p:cNvCxnSpPr/>
          <p:nvPr/>
        </p:nvCxnSpPr>
        <p:spPr>
          <a:xfrm>
            <a:off x="5321700" y="4826425"/>
            <a:ext cx="3822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28" name="Google Shape;328;p20"/>
          <p:cNvGrpSpPr/>
          <p:nvPr/>
        </p:nvGrpSpPr>
        <p:grpSpPr>
          <a:xfrm rot="5400000">
            <a:off x="8315238" y="-11675"/>
            <a:ext cx="231076" cy="541423"/>
            <a:chOff x="7600750" y="792675"/>
            <a:chExt cx="231076" cy="541423"/>
          </a:xfrm>
        </p:grpSpPr>
        <p:sp>
          <p:nvSpPr>
            <p:cNvPr id="329" name="Google Shape;329;p20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0"/>
          <p:cNvSpPr/>
          <p:nvPr/>
        </p:nvSpPr>
        <p:spPr>
          <a:xfrm>
            <a:off x="0" y="0"/>
            <a:ext cx="15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8" name="Google Shape;338;p20"/>
          <p:cNvGrpSpPr/>
          <p:nvPr/>
        </p:nvGrpSpPr>
        <p:grpSpPr>
          <a:xfrm rot="5400000">
            <a:off x="606838" y="4570825"/>
            <a:ext cx="231076" cy="541423"/>
            <a:chOff x="7600750" y="792675"/>
            <a:chExt cx="231076" cy="541423"/>
          </a:xfrm>
        </p:grpSpPr>
        <p:sp>
          <p:nvSpPr>
            <p:cNvPr id="339" name="Google Shape;339;p20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8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"/>
          <p:cNvSpPr txBox="1">
            <a:spLocks noGrp="1"/>
          </p:cNvSpPr>
          <p:nvPr>
            <p:ph type="subTitle" idx="1"/>
          </p:nvPr>
        </p:nvSpPr>
        <p:spPr>
          <a:xfrm>
            <a:off x="827156" y="2091075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3" name="Google Shape;423;p25"/>
          <p:cNvSpPr txBox="1">
            <a:spLocks noGrp="1"/>
          </p:cNvSpPr>
          <p:nvPr>
            <p:ph type="subTitle" idx="2"/>
          </p:nvPr>
        </p:nvSpPr>
        <p:spPr>
          <a:xfrm>
            <a:off x="3429088" y="2091075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4" name="Google Shape;424;p25"/>
          <p:cNvSpPr txBox="1">
            <a:spLocks noGrp="1"/>
          </p:cNvSpPr>
          <p:nvPr>
            <p:ph type="subTitle" idx="3"/>
          </p:nvPr>
        </p:nvSpPr>
        <p:spPr>
          <a:xfrm>
            <a:off x="827169" y="3676863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5" name="Google Shape;425;p25"/>
          <p:cNvSpPr txBox="1">
            <a:spLocks noGrp="1"/>
          </p:cNvSpPr>
          <p:nvPr>
            <p:ph type="subTitle" idx="4"/>
          </p:nvPr>
        </p:nvSpPr>
        <p:spPr>
          <a:xfrm>
            <a:off x="3429091" y="3676875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6" name="Google Shape;426;p25"/>
          <p:cNvSpPr txBox="1">
            <a:spLocks noGrp="1"/>
          </p:cNvSpPr>
          <p:nvPr>
            <p:ph type="subTitle" idx="5"/>
          </p:nvPr>
        </p:nvSpPr>
        <p:spPr>
          <a:xfrm>
            <a:off x="6023089" y="2091075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7" name="Google Shape;427;p25"/>
          <p:cNvSpPr txBox="1">
            <a:spLocks noGrp="1"/>
          </p:cNvSpPr>
          <p:nvPr>
            <p:ph type="subTitle" idx="6"/>
          </p:nvPr>
        </p:nvSpPr>
        <p:spPr>
          <a:xfrm>
            <a:off x="6023089" y="3676875"/>
            <a:ext cx="2372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428" name="Google Shape;42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58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subTitle" idx="7"/>
          </p:nvPr>
        </p:nvSpPr>
        <p:spPr>
          <a:xfrm>
            <a:off x="827169" y="1775425"/>
            <a:ext cx="23727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subTitle" idx="8"/>
          </p:nvPr>
        </p:nvSpPr>
        <p:spPr>
          <a:xfrm>
            <a:off x="3429094" y="1775425"/>
            <a:ext cx="23727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1" name="Google Shape;431;p25"/>
          <p:cNvSpPr txBox="1">
            <a:spLocks noGrp="1"/>
          </p:cNvSpPr>
          <p:nvPr>
            <p:ph type="subTitle" idx="9"/>
          </p:nvPr>
        </p:nvSpPr>
        <p:spPr>
          <a:xfrm>
            <a:off x="6023092" y="1775425"/>
            <a:ext cx="23727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2" name="Google Shape;432;p25"/>
          <p:cNvSpPr txBox="1">
            <a:spLocks noGrp="1"/>
          </p:cNvSpPr>
          <p:nvPr>
            <p:ph type="subTitle" idx="13"/>
          </p:nvPr>
        </p:nvSpPr>
        <p:spPr>
          <a:xfrm>
            <a:off x="827169" y="3379988"/>
            <a:ext cx="23727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3" name="Google Shape;433;p25"/>
          <p:cNvSpPr txBox="1">
            <a:spLocks noGrp="1"/>
          </p:cNvSpPr>
          <p:nvPr>
            <p:ph type="subTitle" idx="14"/>
          </p:nvPr>
        </p:nvSpPr>
        <p:spPr>
          <a:xfrm>
            <a:off x="3429094" y="3380000"/>
            <a:ext cx="23727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4" name="Google Shape;434;p25"/>
          <p:cNvSpPr txBox="1">
            <a:spLocks noGrp="1"/>
          </p:cNvSpPr>
          <p:nvPr>
            <p:ph type="subTitle" idx="15"/>
          </p:nvPr>
        </p:nvSpPr>
        <p:spPr>
          <a:xfrm>
            <a:off x="6023094" y="3380000"/>
            <a:ext cx="23727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800" b="1">
                <a:solidFill>
                  <a:schemeClr val="dk2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exend"/>
              <a:buNone/>
              <a:defRPr sz="1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0" y="0"/>
            <a:ext cx="237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6" name="Google Shape;436;p25"/>
          <p:cNvGrpSpPr/>
          <p:nvPr/>
        </p:nvGrpSpPr>
        <p:grpSpPr>
          <a:xfrm rot="5400000">
            <a:off x="948000" y="4642000"/>
            <a:ext cx="231076" cy="541423"/>
            <a:chOff x="7600750" y="792675"/>
            <a:chExt cx="231076" cy="541423"/>
          </a:xfrm>
        </p:grpSpPr>
        <p:sp>
          <p:nvSpPr>
            <p:cNvPr id="437" name="Google Shape;437;p25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5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5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5" name="Google Shape;445;p25"/>
          <p:cNvSpPr/>
          <p:nvPr/>
        </p:nvSpPr>
        <p:spPr>
          <a:xfrm>
            <a:off x="8906100" y="0"/>
            <a:ext cx="237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" name="Google Shape;446;p25"/>
          <p:cNvGrpSpPr/>
          <p:nvPr/>
        </p:nvGrpSpPr>
        <p:grpSpPr>
          <a:xfrm rot="5400000">
            <a:off x="7931500" y="74925"/>
            <a:ext cx="231076" cy="541423"/>
            <a:chOff x="7600750" y="792675"/>
            <a:chExt cx="231076" cy="541423"/>
          </a:xfrm>
        </p:grpSpPr>
        <p:sp>
          <p:nvSpPr>
            <p:cNvPr id="447" name="Google Shape;447;p25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5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5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5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5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6"/>
          <p:cNvSpPr txBox="1">
            <a:spLocks noGrp="1"/>
          </p:cNvSpPr>
          <p:nvPr>
            <p:ph type="subTitle" idx="1"/>
          </p:nvPr>
        </p:nvSpPr>
        <p:spPr>
          <a:xfrm>
            <a:off x="5238025" y="2612825"/>
            <a:ext cx="2744400" cy="10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6"/>
          <p:cNvSpPr txBox="1">
            <a:spLocks noGrp="1"/>
          </p:cNvSpPr>
          <p:nvPr>
            <p:ph type="title"/>
          </p:nvPr>
        </p:nvSpPr>
        <p:spPr>
          <a:xfrm>
            <a:off x="5238000" y="1603950"/>
            <a:ext cx="2744400" cy="96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0" y="0"/>
            <a:ext cx="41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" name="Google Shape;459;p26"/>
          <p:cNvGrpSpPr/>
          <p:nvPr/>
        </p:nvGrpSpPr>
        <p:grpSpPr>
          <a:xfrm rot="10800000">
            <a:off x="8720201" y="133006"/>
            <a:ext cx="96422" cy="813001"/>
            <a:chOff x="7600750" y="792675"/>
            <a:chExt cx="64200" cy="541423"/>
          </a:xfrm>
        </p:grpSpPr>
        <p:sp>
          <p:nvSpPr>
            <p:cNvPr id="460" name="Google Shape;460;p26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6"/>
          <p:cNvGrpSpPr/>
          <p:nvPr/>
        </p:nvGrpSpPr>
        <p:grpSpPr>
          <a:xfrm rot="-5400000">
            <a:off x="8361926" y="4433681"/>
            <a:ext cx="96422" cy="813001"/>
            <a:chOff x="7600750" y="792675"/>
            <a:chExt cx="64200" cy="541423"/>
          </a:xfrm>
        </p:grpSpPr>
        <p:sp>
          <p:nvSpPr>
            <p:cNvPr id="465" name="Google Shape;465;p26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/>
          <p:nvPr/>
        </p:nvSpPr>
        <p:spPr>
          <a:xfrm>
            <a:off x="0" y="0"/>
            <a:ext cx="20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7" name="Google Shape;527;p30"/>
          <p:cNvGrpSpPr/>
          <p:nvPr/>
        </p:nvGrpSpPr>
        <p:grpSpPr>
          <a:xfrm rot="10800000">
            <a:off x="8529726" y="362006"/>
            <a:ext cx="96422" cy="813001"/>
            <a:chOff x="7600750" y="792675"/>
            <a:chExt cx="64200" cy="541423"/>
          </a:xfrm>
        </p:grpSpPr>
        <p:sp>
          <p:nvSpPr>
            <p:cNvPr id="528" name="Google Shape;528;p30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0"/>
          <p:cNvSpPr/>
          <p:nvPr/>
        </p:nvSpPr>
        <p:spPr>
          <a:xfrm>
            <a:off x="8754525" y="0"/>
            <a:ext cx="389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3" name="Google Shape;533;p30"/>
          <p:cNvGrpSpPr/>
          <p:nvPr/>
        </p:nvGrpSpPr>
        <p:grpSpPr>
          <a:xfrm rot="10800000">
            <a:off x="394401" y="4061156"/>
            <a:ext cx="96422" cy="813001"/>
            <a:chOff x="7600750" y="792675"/>
            <a:chExt cx="64200" cy="541423"/>
          </a:xfrm>
        </p:grpSpPr>
        <p:sp>
          <p:nvSpPr>
            <p:cNvPr id="534" name="Google Shape;534;p30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">
    <p:bg>
      <p:bgPr>
        <a:solidFill>
          <a:schemeClr val="lt1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" name="Google Shape;539;p31"/>
          <p:cNvGrpSpPr/>
          <p:nvPr/>
        </p:nvGrpSpPr>
        <p:grpSpPr>
          <a:xfrm rot="5400000">
            <a:off x="2098300" y="4615575"/>
            <a:ext cx="231076" cy="541423"/>
            <a:chOff x="7600750" y="792675"/>
            <a:chExt cx="231076" cy="541423"/>
          </a:xfrm>
        </p:grpSpPr>
        <p:sp>
          <p:nvSpPr>
            <p:cNvPr id="540" name="Google Shape;540;p31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8" name="Google Shape;548;p31"/>
          <p:cNvSpPr/>
          <p:nvPr/>
        </p:nvSpPr>
        <p:spPr>
          <a:xfrm>
            <a:off x="0" y="0"/>
            <a:ext cx="1479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9" name="Google Shape;549;p31"/>
          <p:cNvGrpSpPr/>
          <p:nvPr/>
        </p:nvGrpSpPr>
        <p:grpSpPr>
          <a:xfrm rot="5400000">
            <a:off x="8266150" y="29625"/>
            <a:ext cx="231076" cy="541423"/>
            <a:chOff x="7600750" y="792675"/>
            <a:chExt cx="231076" cy="541423"/>
          </a:xfrm>
        </p:grpSpPr>
        <p:sp>
          <p:nvSpPr>
            <p:cNvPr id="550" name="Google Shape;550;p31"/>
            <p:cNvSpPr/>
            <p:nvPr/>
          </p:nvSpPr>
          <p:spPr>
            <a:xfrm>
              <a:off x="7600750" y="79267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7767626" y="79267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7767626" y="95174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7600750" y="95174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7600750" y="111082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7767626" y="1110825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7767626" y="126989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7600750" y="1269898"/>
              <a:ext cx="64200" cy="6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exend"/>
              <a:buNone/>
              <a:defRPr sz="27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8" r:id="rId5"/>
    <p:sldLayoutId id="2147483662" r:id="rId6"/>
    <p:sldLayoutId id="2147483666" r:id="rId7"/>
    <p:sldLayoutId id="2147483671" r:id="rId8"/>
    <p:sldLayoutId id="2147483672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microsoft.com/office/2007/relationships/hdphoto" Target="../media/hdphoto2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" name="Google Shape;569;p35"/>
          <p:cNvCxnSpPr/>
          <p:nvPr/>
        </p:nvCxnSpPr>
        <p:spPr>
          <a:xfrm>
            <a:off x="820016" y="1124860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35"/>
          <p:cNvSpPr txBox="1">
            <a:spLocks noGrp="1"/>
          </p:cNvSpPr>
          <p:nvPr>
            <p:ph type="ctrTitle"/>
          </p:nvPr>
        </p:nvSpPr>
        <p:spPr>
          <a:xfrm>
            <a:off x="899592" y="1205071"/>
            <a:ext cx="7564500" cy="18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1000"/>
              </a:spcBef>
            </a:pP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Конструктор</a:t>
            </a:r>
            <a:r>
              <a:rPr lang="ru-RU" dirty="0"/>
              <a:t> </a:t>
            </a:r>
            <a:r>
              <a:rPr lang="en-US" dirty="0">
                <a:solidFill>
                  <a:schemeClr val="tx1"/>
                </a:solidFill>
              </a:rPr>
              <a:t>HTML-</a:t>
            </a:r>
            <a:r>
              <a:rPr lang="ru-RU" dirty="0">
                <a:solidFill>
                  <a:schemeClr val="tx1"/>
                </a:solidFill>
              </a:rPr>
              <a:t>рассылок 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(</a:t>
            </a:r>
            <a:r>
              <a:rPr lang="ru-RU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демо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)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8807375" y="50"/>
            <a:ext cx="336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2" name="Google Shape;572;p35"/>
          <p:cNvCxnSpPr/>
          <p:nvPr/>
        </p:nvCxnSpPr>
        <p:spPr>
          <a:xfrm rot="10800000">
            <a:off x="876475" y="4443958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72;p35"/>
          <p:cNvCxnSpPr/>
          <p:nvPr/>
        </p:nvCxnSpPr>
        <p:spPr>
          <a:xfrm rot="10800000">
            <a:off x="7524328" y="627534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572;p35"/>
          <p:cNvCxnSpPr/>
          <p:nvPr/>
        </p:nvCxnSpPr>
        <p:spPr>
          <a:xfrm rot="10800000">
            <a:off x="5915936" y="4948014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572;p35"/>
          <p:cNvCxnSpPr/>
          <p:nvPr/>
        </p:nvCxnSpPr>
        <p:spPr>
          <a:xfrm rot="10800000">
            <a:off x="8643111" y="2859782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572;p35"/>
          <p:cNvCxnSpPr/>
          <p:nvPr/>
        </p:nvCxnSpPr>
        <p:spPr>
          <a:xfrm rot="10800000">
            <a:off x="395536" y="646236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Прямоугольник 1"/>
          <p:cNvSpPr/>
          <p:nvPr/>
        </p:nvSpPr>
        <p:spPr>
          <a:xfrm>
            <a:off x="971600" y="3639673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Отрасль: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маркетинг, </a:t>
            </a:r>
            <a:r>
              <a:rPr lang="ru-RU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email</a:t>
            </a:r>
            <a: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  <a:t>-коммуникации</a:t>
            </a:r>
            <a:br>
              <a:rPr lang="ru-RU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Кейс № 13</a:t>
            </a:r>
            <a:endParaRPr lang="ru-RU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3" name="Google Shape;8791;p77"/>
          <p:cNvGrpSpPr/>
          <p:nvPr/>
        </p:nvGrpSpPr>
        <p:grpSpPr>
          <a:xfrm>
            <a:off x="7690161" y="1059582"/>
            <a:ext cx="424586" cy="424542"/>
            <a:chOff x="893650" y="1428000"/>
            <a:chExt cx="483200" cy="483150"/>
          </a:xfrm>
          <a:solidFill>
            <a:schemeClr val="tx2"/>
          </a:solidFill>
        </p:grpSpPr>
        <p:sp>
          <p:nvSpPr>
            <p:cNvPr id="14" name="Google Shape;8792;p77"/>
            <p:cNvSpPr/>
            <p:nvPr/>
          </p:nvSpPr>
          <p:spPr>
            <a:xfrm>
              <a:off x="893650" y="1428000"/>
              <a:ext cx="483200" cy="483150"/>
            </a:xfrm>
            <a:custGeom>
              <a:avLst/>
              <a:gdLst/>
              <a:ahLst/>
              <a:cxnLst/>
              <a:rect l="l" t="t" r="r" b="b"/>
              <a:pathLst>
                <a:path w="19328" h="19326" extrusionOk="0">
                  <a:moveTo>
                    <a:pt x="3436" y="6012"/>
                  </a:moveTo>
                  <a:lnTo>
                    <a:pt x="3436" y="8869"/>
                  </a:lnTo>
                  <a:lnTo>
                    <a:pt x="1516" y="7435"/>
                  </a:lnTo>
                  <a:lnTo>
                    <a:pt x="3436" y="6012"/>
                  </a:lnTo>
                  <a:close/>
                  <a:moveTo>
                    <a:pt x="15892" y="6012"/>
                  </a:moveTo>
                  <a:lnTo>
                    <a:pt x="17812" y="7438"/>
                  </a:lnTo>
                  <a:lnTo>
                    <a:pt x="15892" y="8869"/>
                  </a:lnTo>
                  <a:lnTo>
                    <a:pt x="15892" y="6012"/>
                  </a:lnTo>
                  <a:close/>
                  <a:moveTo>
                    <a:pt x="14759" y="1133"/>
                  </a:moveTo>
                  <a:lnTo>
                    <a:pt x="14759" y="9717"/>
                  </a:lnTo>
                  <a:lnTo>
                    <a:pt x="9665" y="13522"/>
                  </a:lnTo>
                  <a:lnTo>
                    <a:pt x="4569" y="9717"/>
                  </a:lnTo>
                  <a:lnTo>
                    <a:pt x="4569" y="1133"/>
                  </a:lnTo>
                  <a:close/>
                  <a:moveTo>
                    <a:pt x="18195" y="8564"/>
                  </a:moveTo>
                  <a:lnTo>
                    <a:pt x="18195" y="17625"/>
                  </a:lnTo>
                  <a:cubicBezTo>
                    <a:pt x="18195" y="17939"/>
                    <a:pt x="17942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6" y="17939"/>
                    <a:pt x="1136" y="17625"/>
                  </a:cubicBezTo>
                  <a:lnTo>
                    <a:pt x="1136" y="8564"/>
                  </a:lnTo>
                  <a:lnTo>
                    <a:pt x="9324" y="14681"/>
                  </a:lnTo>
                  <a:cubicBezTo>
                    <a:pt x="9425" y="14757"/>
                    <a:pt x="9545" y="14794"/>
                    <a:pt x="9664" y="14794"/>
                  </a:cubicBezTo>
                  <a:cubicBezTo>
                    <a:pt x="9783" y="14794"/>
                    <a:pt x="9903" y="14757"/>
                    <a:pt x="10004" y="14681"/>
                  </a:cubicBezTo>
                  <a:lnTo>
                    <a:pt x="18195" y="8564"/>
                  </a:lnTo>
                  <a:close/>
                  <a:moveTo>
                    <a:pt x="4004" y="1"/>
                  </a:moveTo>
                  <a:cubicBezTo>
                    <a:pt x="3690" y="1"/>
                    <a:pt x="3436" y="251"/>
                    <a:pt x="3436" y="565"/>
                  </a:cubicBezTo>
                  <a:lnTo>
                    <a:pt x="3436" y="4605"/>
                  </a:lnTo>
                  <a:lnTo>
                    <a:pt x="230" y="6982"/>
                  </a:lnTo>
                  <a:lnTo>
                    <a:pt x="221" y="6991"/>
                  </a:lnTo>
                  <a:cubicBezTo>
                    <a:pt x="212" y="6997"/>
                    <a:pt x="200" y="7006"/>
                    <a:pt x="190" y="7015"/>
                  </a:cubicBezTo>
                  <a:lnTo>
                    <a:pt x="175" y="7030"/>
                  </a:lnTo>
                  <a:cubicBezTo>
                    <a:pt x="163" y="7042"/>
                    <a:pt x="151" y="7051"/>
                    <a:pt x="142" y="7063"/>
                  </a:cubicBezTo>
                  <a:cubicBezTo>
                    <a:pt x="139" y="7069"/>
                    <a:pt x="136" y="7072"/>
                    <a:pt x="133" y="7075"/>
                  </a:cubicBezTo>
                  <a:cubicBezTo>
                    <a:pt x="121" y="7090"/>
                    <a:pt x="106" y="7105"/>
                    <a:pt x="94" y="7124"/>
                  </a:cubicBezTo>
                  <a:cubicBezTo>
                    <a:pt x="94" y="7127"/>
                    <a:pt x="91" y="7130"/>
                    <a:pt x="88" y="7133"/>
                  </a:cubicBezTo>
                  <a:cubicBezTo>
                    <a:pt x="82" y="7148"/>
                    <a:pt x="73" y="7163"/>
                    <a:pt x="64" y="7178"/>
                  </a:cubicBezTo>
                  <a:cubicBezTo>
                    <a:pt x="61" y="7181"/>
                    <a:pt x="58" y="7187"/>
                    <a:pt x="58" y="7193"/>
                  </a:cubicBezTo>
                  <a:cubicBezTo>
                    <a:pt x="52" y="7205"/>
                    <a:pt x="46" y="7220"/>
                    <a:pt x="39" y="7232"/>
                  </a:cubicBezTo>
                  <a:lnTo>
                    <a:pt x="33" y="7250"/>
                  </a:lnTo>
                  <a:cubicBezTo>
                    <a:pt x="27" y="7265"/>
                    <a:pt x="24" y="7278"/>
                    <a:pt x="18" y="7293"/>
                  </a:cubicBezTo>
                  <a:cubicBezTo>
                    <a:pt x="18" y="7299"/>
                    <a:pt x="15" y="7305"/>
                    <a:pt x="15" y="7311"/>
                  </a:cubicBezTo>
                  <a:cubicBezTo>
                    <a:pt x="12" y="7326"/>
                    <a:pt x="9" y="7341"/>
                    <a:pt x="6" y="7356"/>
                  </a:cubicBezTo>
                  <a:cubicBezTo>
                    <a:pt x="6" y="7362"/>
                    <a:pt x="6" y="7368"/>
                    <a:pt x="3" y="7374"/>
                  </a:cubicBezTo>
                  <a:cubicBezTo>
                    <a:pt x="3" y="7392"/>
                    <a:pt x="0" y="7410"/>
                    <a:pt x="0" y="7432"/>
                  </a:cubicBezTo>
                  <a:lnTo>
                    <a:pt x="0" y="7435"/>
                  </a:lnTo>
                  <a:lnTo>
                    <a:pt x="3" y="7435"/>
                  </a:lnTo>
                  <a:lnTo>
                    <a:pt x="3" y="17625"/>
                  </a:lnTo>
                  <a:cubicBezTo>
                    <a:pt x="3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7" y="19325"/>
                    <a:pt x="19325" y="18564"/>
                    <a:pt x="19328" y="17625"/>
                  </a:cubicBezTo>
                  <a:lnTo>
                    <a:pt x="19328" y="7435"/>
                  </a:lnTo>
                  <a:lnTo>
                    <a:pt x="19328" y="7428"/>
                  </a:lnTo>
                  <a:cubicBezTo>
                    <a:pt x="19328" y="7410"/>
                    <a:pt x="19325" y="7389"/>
                    <a:pt x="19322" y="7371"/>
                  </a:cubicBezTo>
                  <a:cubicBezTo>
                    <a:pt x="19322" y="7365"/>
                    <a:pt x="19322" y="7359"/>
                    <a:pt x="19319" y="7353"/>
                  </a:cubicBezTo>
                  <a:cubicBezTo>
                    <a:pt x="19319" y="7338"/>
                    <a:pt x="19316" y="7323"/>
                    <a:pt x="19313" y="7308"/>
                  </a:cubicBezTo>
                  <a:cubicBezTo>
                    <a:pt x="19313" y="7302"/>
                    <a:pt x="19310" y="7296"/>
                    <a:pt x="19307" y="7290"/>
                  </a:cubicBezTo>
                  <a:cubicBezTo>
                    <a:pt x="19304" y="7278"/>
                    <a:pt x="19301" y="7262"/>
                    <a:pt x="19294" y="7247"/>
                  </a:cubicBezTo>
                  <a:lnTo>
                    <a:pt x="19288" y="7232"/>
                  </a:lnTo>
                  <a:cubicBezTo>
                    <a:pt x="19282" y="7217"/>
                    <a:pt x="19276" y="7205"/>
                    <a:pt x="19270" y="7190"/>
                  </a:cubicBezTo>
                  <a:cubicBezTo>
                    <a:pt x="19267" y="7184"/>
                    <a:pt x="19264" y="7181"/>
                    <a:pt x="19264" y="7175"/>
                  </a:cubicBezTo>
                  <a:cubicBezTo>
                    <a:pt x="19255" y="7160"/>
                    <a:pt x="19246" y="7145"/>
                    <a:pt x="19237" y="7133"/>
                  </a:cubicBezTo>
                  <a:cubicBezTo>
                    <a:pt x="19237" y="7130"/>
                    <a:pt x="19234" y="7124"/>
                    <a:pt x="19231" y="7120"/>
                  </a:cubicBezTo>
                  <a:cubicBezTo>
                    <a:pt x="19219" y="7105"/>
                    <a:pt x="19207" y="7087"/>
                    <a:pt x="19195" y="7072"/>
                  </a:cubicBezTo>
                  <a:cubicBezTo>
                    <a:pt x="19192" y="7069"/>
                    <a:pt x="19189" y="7066"/>
                    <a:pt x="19186" y="7063"/>
                  </a:cubicBezTo>
                  <a:cubicBezTo>
                    <a:pt x="19174" y="7051"/>
                    <a:pt x="19165" y="7039"/>
                    <a:pt x="19153" y="7027"/>
                  </a:cubicBezTo>
                  <a:lnTo>
                    <a:pt x="19137" y="7015"/>
                  </a:lnTo>
                  <a:cubicBezTo>
                    <a:pt x="19125" y="7006"/>
                    <a:pt x="19116" y="6997"/>
                    <a:pt x="19104" y="6988"/>
                  </a:cubicBezTo>
                  <a:lnTo>
                    <a:pt x="19095" y="6979"/>
                  </a:lnTo>
                  <a:lnTo>
                    <a:pt x="15892" y="4605"/>
                  </a:lnTo>
                  <a:lnTo>
                    <a:pt x="15892" y="565"/>
                  </a:lnTo>
                  <a:cubicBezTo>
                    <a:pt x="15892" y="251"/>
                    <a:pt x="15638" y="1"/>
                    <a:pt x="153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8793;p77"/>
            <p:cNvSpPr/>
            <p:nvPr/>
          </p:nvSpPr>
          <p:spPr>
            <a:xfrm>
              <a:off x="1036150" y="15148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7362" y="1132"/>
                  </a:lnTo>
                  <a:cubicBezTo>
                    <a:pt x="7673" y="1132"/>
                    <a:pt x="7927" y="879"/>
                    <a:pt x="7927" y="565"/>
                  </a:cubicBezTo>
                  <a:cubicBezTo>
                    <a:pt x="7927" y="251"/>
                    <a:pt x="7673" y="0"/>
                    <a:pt x="73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8794;p77"/>
            <p:cNvSpPr/>
            <p:nvPr/>
          </p:nvSpPr>
          <p:spPr>
            <a:xfrm>
              <a:off x="1036150" y="15714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7362" y="1133"/>
                  </a:lnTo>
                  <a:cubicBezTo>
                    <a:pt x="7673" y="1133"/>
                    <a:pt x="7927" y="879"/>
                    <a:pt x="7927" y="565"/>
                  </a:cubicBezTo>
                  <a:cubicBezTo>
                    <a:pt x="7927" y="251"/>
                    <a:pt x="7673" y="1"/>
                    <a:pt x="7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795;p77"/>
            <p:cNvSpPr/>
            <p:nvPr/>
          </p:nvSpPr>
          <p:spPr>
            <a:xfrm>
              <a:off x="1036150" y="1628050"/>
              <a:ext cx="113275" cy="28325"/>
            </a:xfrm>
            <a:custGeom>
              <a:avLst/>
              <a:gdLst/>
              <a:ahLst/>
              <a:cxnLst/>
              <a:rect l="l" t="t" r="r" b="b"/>
              <a:pathLst>
                <a:path w="4531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3965" y="1132"/>
                  </a:lnTo>
                  <a:cubicBezTo>
                    <a:pt x="4276" y="1132"/>
                    <a:pt x="4530" y="879"/>
                    <a:pt x="4530" y="565"/>
                  </a:cubicBez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>
          <a:extLst>
            <a:ext uri="{FF2B5EF4-FFF2-40B4-BE49-F238E27FC236}">
              <a16:creationId xmlns:a16="http://schemas.microsoft.com/office/drawing/2014/main" id="{BCA233CB-39F5-7F52-61CA-410D3DB76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" name="Google Shape;569;p35">
            <a:extLst>
              <a:ext uri="{FF2B5EF4-FFF2-40B4-BE49-F238E27FC236}">
                <a16:creationId xmlns:a16="http://schemas.microsoft.com/office/drawing/2014/main" id="{476F8D88-F86F-B990-40B7-4AC7F89A93BB}"/>
              </a:ext>
            </a:extLst>
          </p:cNvPr>
          <p:cNvCxnSpPr/>
          <p:nvPr/>
        </p:nvCxnSpPr>
        <p:spPr>
          <a:xfrm>
            <a:off x="535935" y="1447050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1" name="Google Shape;571;p35">
            <a:extLst>
              <a:ext uri="{FF2B5EF4-FFF2-40B4-BE49-F238E27FC236}">
                <a16:creationId xmlns:a16="http://schemas.microsoft.com/office/drawing/2014/main" id="{A4410CEC-687F-6B7D-28B0-013E264C1A5D}"/>
              </a:ext>
            </a:extLst>
          </p:cNvPr>
          <p:cNvSpPr/>
          <p:nvPr/>
        </p:nvSpPr>
        <p:spPr>
          <a:xfrm>
            <a:off x="8807375" y="50"/>
            <a:ext cx="336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2" name="Google Shape;572;p35">
            <a:extLst>
              <a:ext uri="{FF2B5EF4-FFF2-40B4-BE49-F238E27FC236}">
                <a16:creationId xmlns:a16="http://schemas.microsoft.com/office/drawing/2014/main" id="{CE6E9312-8F21-A9A5-AA36-BF983E7D7528}"/>
              </a:ext>
            </a:extLst>
          </p:cNvPr>
          <p:cNvCxnSpPr>
            <a:cxnSpLocks/>
          </p:cNvCxnSpPr>
          <p:nvPr/>
        </p:nvCxnSpPr>
        <p:spPr>
          <a:xfrm flipH="1">
            <a:off x="876475" y="4443958"/>
            <a:ext cx="67118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572;p35">
            <a:extLst>
              <a:ext uri="{FF2B5EF4-FFF2-40B4-BE49-F238E27FC236}">
                <a16:creationId xmlns:a16="http://schemas.microsoft.com/office/drawing/2014/main" id="{11039C27-3B42-009F-E8D0-D3AB1B6A3300}"/>
              </a:ext>
            </a:extLst>
          </p:cNvPr>
          <p:cNvCxnSpPr/>
          <p:nvPr/>
        </p:nvCxnSpPr>
        <p:spPr>
          <a:xfrm rot="10800000">
            <a:off x="7524328" y="627534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572;p35">
            <a:extLst>
              <a:ext uri="{FF2B5EF4-FFF2-40B4-BE49-F238E27FC236}">
                <a16:creationId xmlns:a16="http://schemas.microsoft.com/office/drawing/2014/main" id="{ABD451C2-0BD0-214B-3F24-93EB4CA556F6}"/>
              </a:ext>
            </a:extLst>
          </p:cNvPr>
          <p:cNvCxnSpPr>
            <a:cxnSpLocks/>
          </p:cNvCxnSpPr>
          <p:nvPr/>
        </p:nvCxnSpPr>
        <p:spPr>
          <a:xfrm flipH="1">
            <a:off x="5580112" y="4731990"/>
            <a:ext cx="1584176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572;p35">
            <a:extLst>
              <a:ext uri="{FF2B5EF4-FFF2-40B4-BE49-F238E27FC236}">
                <a16:creationId xmlns:a16="http://schemas.microsoft.com/office/drawing/2014/main" id="{107A0372-5B07-AD0C-208C-5C3AA43E3E9B}"/>
              </a:ext>
            </a:extLst>
          </p:cNvPr>
          <p:cNvCxnSpPr/>
          <p:nvPr/>
        </p:nvCxnSpPr>
        <p:spPr>
          <a:xfrm rot="10800000">
            <a:off x="8643111" y="2859782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572;p35">
            <a:extLst>
              <a:ext uri="{FF2B5EF4-FFF2-40B4-BE49-F238E27FC236}">
                <a16:creationId xmlns:a16="http://schemas.microsoft.com/office/drawing/2014/main" id="{CAE42A2E-8E86-AD42-E536-C174649F470A}"/>
              </a:ext>
            </a:extLst>
          </p:cNvPr>
          <p:cNvCxnSpPr/>
          <p:nvPr/>
        </p:nvCxnSpPr>
        <p:spPr>
          <a:xfrm rot="10800000">
            <a:off x="179512" y="195486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8791;p77">
            <a:extLst>
              <a:ext uri="{FF2B5EF4-FFF2-40B4-BE49-F238E27FC236}">
                <a16:creationId xmlns:a16="http://schemas.microsoft.com/office/drawing/2014/main" id="{DCC968FF-1BB0-6500-60E3-58A50B9C7CE1}"/>
              </a:ext>
            </a:extLst>
          </p:cNvPr>
          <p:cNvGrpSpPr/>
          <p:nvPr/>
        </p:nvGrpSpPr>
        <p:grpSpPr>
          <a:xfrm>
            <a:off x="7830233" y="1143938"/>
            <a:ext cx="340221" cy="340186"/>
            <a:chOff x="893650" y="1428000"/>
            <a:chExt cx="483200" cy="483150"/>
          </a:xfrm>
          <a:solidFill>
            <a:schemeClr val="tx2"/>
          </a:solidFill>
        </p:grpSpPr>
        <p:sp>
          <p:nvSpPr>
            <p:cNvPr id="14" name="Google Shape;8792;p77">
              <a:extLst>
                <a:ext uri="{FF2B5EF4-FFF2-40B4-BE49-F238E27FC236}">
                  <a16:creationId xmlns:a16="http://schemas.microsoft.com/office/drawing/2014/main" id="{F92B2574-E6C3-9E65-5BD3-44E5D36D4FD5}"/>
                </a:ext>
              </a:extLst>
            </p:cNvPr>
            <p:cNvSpPr/>
            <p:nvPr/>
          </p:nvSpPr>
          <p:spPr>
            <a:xfrm>
              <a:off x="893650" y="1428000"/>
              <a:ext cx="483200" cy="483150"/>
            </a:xfrm>
            <a:custGeom>
              <a:avLst/>
              <a:gdLst/>
              <a:ahLst/>
              <a:cxnLst/>
              <a:rect l="l" t="t" r="r" b="b"/>
              <a:pathLst>
                <a:path w="19328" h="19326" extrusionOk="0">
                  <a:moveTo>
                    <a:pt x="3436" y="6012"/>
                  </a:moveTo>
                  <a:lnTo>
                    <a:pt x="3436" y="8869"/>
                  </a:lnTo>
                  <a:lnTo>
                    <a:pt x="1516" y="7435"/>
                  </a:lnTo>
                  <a:lnTo>
                    <a:pt x="3436" y="6012"/>
                  </a:lnTo>
                  <a:close/>
                  <a:moveTo>
                    <a:pt x="15892" y="6012"/>
                  </a:moveTo>
                  <a:lnTo>
                    <a:pt x="17812" y="7438"/>
                  </a:lnTo>
                  <a:lnTo>
                    <a:pt x="15892" y="8869"/>
                  </a:lnTo>
                  <a:lnTo>
                    <a:pt x="15892" y="6012"/>
                  </a:lnTo>
                  <a:close/>
                  <a:moveTo>
                    <a:pt x="14759" y="1133"/>
                  </a:moveTo>
                  <a:lnTo>
                    <a:pt x="14759" y="9717"/>
                  </a:lnTo>
                  <a:lnTo>
                    <a:pt x="9665" y="13522"/>
                  </a:lnTo>
                  <a:lnTo>
                    <a:pt x="4569" y="9717"/>
                  </a:lnTo>
                  <a:lnTo>
                    <a:pt x="4569" y="1133"/>
                  </a:lnTo>
                  <a:close/>
                  <a:moveTo>
                    <a:pt x="18195" y="8564"/>
                  </a:moveTo>
                  <a:lnTo>
                    <a:pt x="18195" y="17625"/>
                  </a:lnTo>
                  <a:cubicBezTo>
                    <a:pt x="18195" y="17939"/>
                    <a:pt x="17942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6" y="17939"/>
                    <a:pt x="1136" y="17625"/>
                  </a:cubicBezTo>
                  <a:lnTo>
                    <a:pt x="1136" y="8564"/>
                  </a:lnTo>
                  <a:lnTo>
                    <a:pt x="9324" y="14681"/>
                  </a:lnTo>
                  <a:cubicBezTo>
                    <a:pt x="9425" y="14757"/>
                    <a:pt x="9545" y="14794"/>
                    <a:pt x="9664" y="14794"/>
                  </a:cubicBezTo>
                  <a:cubicBezTo>
                    <a:pt x="9783" y="14794"/>
                    <a:pt x="9903" y="14757"/>
                    <a:pt x="10004" y="14681"/>
                  </a:cubicBezTo>
                  <a:lnTo>
                    <a:pt x="18195" y="8564"/>
                  </a:lnTo>
                  <a:close/>
                  <a:moveTo>
                    <a:pt x="4004" y="1"/>
                  </a:moveTo>
                  <a:cubicBezTo>
                    <a:pt x="3690" y="1"/>
                    <a:pt x="3436" y="251"/>
                    <a:pt x="3436" y="565"/>
                  </a:cubicBezTo>
                  <a:lnTo>
                    <a:pt x="3436" y="4605"/>
                  </a:lnTo>
                  <a:lnTo>
                    <a:pt x="230" y="6982"/>
                  </a:lnTo>
                  <a:lnTo>
                    <a:pt x="221" y="6991"/>
                  </a:lnTo>
                  <a:cubicBezTo>
                    <a:pt x="212" y="6997"/>
                    <a:pt x="200" y="7006"/>
                    <a:pt x="190" y="7015"/>
                  </a:cubicBezTo>
                  <a:lnTo>
                    <a:pt x="175" y="7030"/>
                  </a:lnTo>
                  <a:cubicBezTo>
                    <a:pt x="163" y="7042"/>
                    <a:pt x="151" y="7051"/>
                    <a:pt x="142" y="7063"/>
                  </a:cubicBezTo>
                  <a:cubicBezTo>
                    <a:pt x="139" y="7069"/>
                    <a:pt x="136" y="7072"/>
                    <a:pt x="133" y="7075"/>
                  </a:cubicBezTo>
                  <a:cubicBezTo>
                    <a:pt x="121" y="7090"/>
                    <a:pt x="106" y="7105"/>
                    <a:pt x="94" y="7124"/>
                  </a:cubicBezTo>
                  <a:cubicBezTo>
                    <a:pt x="94" y="7127"/>
                    <a:pt x="91" y="7130"/>
                    <a:pt x="88" y="7133"/>
                  </a:cubicBezTo>
                  <a:cubicBezTo>
                    <a:pt x="82" y="7148"/>
                    <a:pt x="73" y="7163"/>
                    <a:pt x="64" y="7178"/>
                  </a:cubicBezTo>
                  <a:cubicBezTo>
                    <a:pt x="61" y="7181"/>
                    <a:pt x="58" y="7187"/>
                    <a:pt x="58" y="7193"/>
                  </a:cubicBezTo>
                  <a:cubicBezTo>
                    <a:pt x="52" y="7205"/>
                    <a:pt x="46" y="7220"/>
                    <a:pt x="39" y="7232"/>
                  </a:cubicBezTo>
                  <a:lnTo>
                    <a:pt x="33" y="7250"/>
                  </a:lnTo>
                  <a:cubicBezTo>
                    <a:pt x="27" y="7265"/>
                    <a:pt x="24" y="7278"/>
                    <a:pt x="18" y="7293"/>
                  </a:cubicBezTo>
                  <a:cubicBezTo>
                    <a:pt x="18" y="7299"/>
                    <a:pt x="15" y="7305"/>
                    <a:pt x="15" y="7311"/>
                  </a:cubicBezTo>
                  <a:cubicBezTo>
                    <a:pt x="12" y="7326"/>
                    <a:pt x="9" y="7341"/>
                    <a:pt x="6" y="7356"/>
                  </a:cubicBezTo>
                  <a:cubicBezTo>
                    <a:pt x="6" y="7362"/>
                    <a:pt x="6" y="7368"/>
                    <a:pt x="3" y="7374"/>
                  </a:cubicBezTo>
                  <a:cubicBezTo>
                    <a:pt x="3" y="7392"/>
                    <a:pt x="0" y="7410"/>
                    <a:pt x="0" y="7432"/>
                  </a:cubicBezTo>
                  <a:lnTo>
                    <a:pt x="0" y="7435"/>
                  </a:lnTo>
                  <a:lnTo>
                    <a:pt x="3" y="7435"/>
                  </a:lnTo>
                  <a:lnTo>
                    <a:pt x="3" y="17625"/>
                  </a:lnTo>
                  <a:cubicBezTo>
                    <a:pt x="3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7" y="19325"/>
                    <a:pt x="19325" y="18564"/>
                    <a:pt x="19328" y="17625"/>
                  </a:cubicBezTo>
                  <a:lnTo>
                    <a:pt x="19328" y="7435"/>
                  </a:lnTo>
                  <a:lnTo>
                    <a:pt x="19328" y="7428"/>
                  </a:lnTo>
                  <a:cubicBezTo>
                    <a:pt x="19328" y="7410"/>
                    <a:pt x="19325" y="7389"/>
                    <a:pt x="19322" y="7371"/>
                  </a:cubicBezTo>
                  <a:cubicBezTo>
                    <a:pt x="19322" y="7365"/>
                    <a:pt x="19322" y="7359"/>
                    <a:pt x="19319" y="7353"/>
                  </a:cubicBezTo>
                  <a:cubicBezTo>
                    <a:pt x="19319" y="7338"/>
                    <a:pt x="19316" y="7323"/>
                    <a:pt x="19313" y="7308"/>
                  </a:cubicBezTo>
                  <a:cubicBezTo>
                    <a:pt x="19313" y="7302"/>
                    <a:pt x="19310" y="7296"/>
                    <a:pt x="19307" y="7290"/>
                  </a:cubicBezTo>
                  <a:cubicBezTo>
                    <a:pt x="19304" y="7278"/>
                    <a:pt x="19301" y="7262"/>
                    <a:pt x="19294" y="7247"/>
                  </a:cubicBezTo>
                  <a:lnTo>
                    <a:pt x="19288" y="7232"/>
                  </a:lnTo>
                  <a:cubicBezTo>
                    <a:pt x="19282" y="7217"/>
                    <a:pt x="19276" y="7205"/>
                    <a:pt x="19270" y="7190"/>
                  </a:cubicBezTo>
                  <a:cubicBezTo>
                    <a:pt x="19267" y="7184"/>
                    <a:pt x="19264" y="7181"/>
                    <a:pt x="19264" y="7175"/>
                  </a:cubicBezTo>
                  <a:cubicBezTo>
                    <a:pt x="19255" y="7160"/>
                    <a:pt x="19246" y="7145"/>
                    <a:pt x="19237" y="7133"/>
                  </a:cubicBezTo>
                  <a:cubicBezTo>
                    <a:pt x="19237" y="7130"/>
                    <a:pt x="19234" y="7124"/>
                    <a:pt x="19231" y="7120"/>
                  </a:cubicBezTo>
                  <a:cubicBezTo>
                    <a:pt x="19219" y="7105"/>
                    <a:pt x="19207" y="7087"/>
                    <a:pt x="19195" y="7072"/>
                  </a:cubicBezTo>
                  <a:cubicBezTo>
                    <a:pt x="19192" y="7069"/>
                    <a:pt x="19189" y="7066"/>
                    <a:pt x="19186" y="7063"/>
                  </a:cubicBezTo>
                  <a:cubicBezTo>
                    <a:pt x="19174" y="7051"/>
                    <a:pt x="19165" y="7039"/>
                    <a:pt x="19153" y="7027"/>
                  </a:cubicBezTo>
                  <a:lnTo>
                    <a:pt x="19137" y="7015"/>
                  </a:lnTo>
                  <a:cubicBezTo>
                    <a:pt x="19125" y="7006"/>
                    <a:pt x="19116" y="6997"/>
                    <a:pt x="19104" y="6988"/>
                  </a:cubicBezTo>
                  <a:lnTo>
                    <a:pt x="19095" y="6979"/>
                  </a:lnTo>
                  <a:lnTo>
                    <a:pt x="15892" y="4605"/>
                  </a:lnTo>
                  <a:lnTo>
                    <a:pt x="15892" y="565"/>
                  </a:lnTo>
                  <a:cubicBezTo>
                    <a:pt x="15892" y="251"/>
                    <a:pt x="15638" y="1"/>
                    <a:pt x="153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8793;p77">
              <a:extLst>
                <a:ext uri="{FF2B5EF4-FFF2-40B4-BE49-F238E27FC236}">
                  <a16:creationId xmlns:a16="http://schemas.microsoft.com/office/drawing/2014/main" id="{12209138-DCE5-156B-DFE9-4491684F4AC8}"/>
                </a:ext>
              </a:extLst>
            </p:cNvPr>
            <p:cNvSpPr/>
            <p:nvPr/>
          </p:nvSpPr>
          <p:spPr>
            <a:xfrm>
              <a:off x="1036150" y="15148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7362" y="1132"/>
                  </a:lnTo>
                  <a:cubicBezTo>
                    <a:pt x="7673" y="1132"/>
                    <a:pt x="7927" y="879"/>
                    <a:pt x="7927" y="565"/>
                  </a:cubicBezTo>
                  <a:cubicBezTo>
                    <a:pt x="7927" y="251"/>
                    <a:pt x="7673" y="0"/>
                    <a:pt x="73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6" name="Google Shape;8794;p77">
              <a:extLst>
                <a:ext uri="{FF2B5EF4-FFF2-40B4-BE49-F238E27FC236}">
                  <a16:creationId xmlns:a16="http://schemas.microsoft.com/office/drawing/2014/main" id="{38563119-8B52-10E6-0A4F-31117C4BF4B7}"/>
                </a:ext>
              </a:extLst>
            </p:cNvPr>
            <p:cNvSpPr/>
            <p:nvPr/>
          </p:nvSpPr>
          <p:spPr>
            <a:xfrm>
              <a:off x="1036150" y="15714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7362" y="1133"/>
                  </a:lnTo>
                  <a:cubicBezTo>
                    <a:pt x="7673" y="1133"/>
                    <a:pt x="7927" y="879"/>
                    <a:pt x="7927" y="565"/>
                  </a:cubicBezTo>
                  <a:cubicBezTo>
                    <a:pt x="7927" y="251"/>
                    <a:pt x="7673" y="1"/>
                    <a:pt x="7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" name="Google Shape;8795;p77">
              <a:extLst>
                <a:ext uri="{FF2B5EF4-FFF2-40B4-BE49-F238E27FC236}">
                  <a16:creationId xmlns:a16="http://schemas.microsoft.com/office/drawing/2014/main" id="{EE77DD6E-D790-E0AA-B6F9-B1B0A0B7C0B7}"/>
                </a:ext>
              </a:extLst>
            </p:cNvPr>
            <p:cNvSpPr/>
            <p:nvPr/>
          </p:nvSpPr>
          <p:spPr>
            <a:xfrm>
              <a:off x="1036150" y="1628050"/>
              <a:ext cx="113275" cy="28325"/>
            </a:xfrm>
            <a:custGeom>
              <a:avLst/>
              <a:gdLst/>
              <a:ahLst/>
              <a:cxnLst/>
              <a:rect l="l" t="t" r="r" b="b"/>
              <a:pathLst>
                <a:path w="4531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3965" y="1132"/>
                  </a:lnTo>
                  <a:cubicBezTo>
                    <a:pt x="4276" y="1132"/>
                    <a:pt x="4530" y="879"/>
                    <a:pt x="4530" y="565"/>
                  </a:cubicBez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0C1E2BA-1BD3-221A-502B-9F8BE3E046B1}"/>
              </a:ext>
            </a:extLst>
          </p:cNvPr>
          <p:cNvSpPr txBox="1"/>
          <p:nvPr/>
        </p:nvSpPr>
        <p:spPr>
          <a:xfrm>
            <a:off x="700200" y="1419622"/>
            <a:ext cx="704015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Процесс подготовки рассылки является длительным, возрастает риск ошибок при выборе получателя и усложняется контроль истории отправок</a:t>
            </a:r>
          </a:p>
          <a:p>
            <a:pPr algn="ctr"/>
            <a:endParaRPr lang="ru-RU" sz="1800" dirty="0">
              <a:solidFill>
                <a:schemeClr val="bg2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1800" dirty="0">
                <a:solidFill>
                  <a:schemeClr val="bg2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Наш проект направлен на создание единого демонстрационного сервиса, который объединяет визуальную сборку HTML-письма, работу с базой заказчиков 1С, предпросмотр письма, сохранение шаблонов и ведение журнала отправок.</a:t>
            </a:r>
          </a:p>
        </p:txBody>
      </p:sp>
      <p:sp>
        <p:nvSpPr>
          <p:cNvPr id="2" name="Google Shape;805;p51">
            <a:extLst>
              <a:ext uri="{FF2B5EF4-FFF2-40B4-BE49-F238E27FC236}">
                <a16:creationId xmlns:a16="http://schemas.microsoft.com/office/drawing/2014/main" id="{A86D25FA-BD2E-E096-6694-A51850E5C7C2}"/>
              </a:ext>
            </a:extLst>
          </p:cNvPr>
          <p:cNvSpPr txBox="1">
            <a:spLocks/>
          </p:cNvSpPr>
          <p:nvPr/>
        </p:nvSpPr>
        <p:spPr>
          <a:xfrm>
            <a:off x="739800" y="465540"/>
            <a:ext cx="7704000" cy="99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Lexend"/>
              <a:buNone/>
              <a:defRPr sz="5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Bebas Neue"/>
              <a:buNone/>
              <a:defRPr sz="5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algn="ctr"/>
            <a:r>
              <a:rPr lang="ru-RU" sz="4000" dirty="0"/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37758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1"/>
          <p:cNvSpPr txBox="1">
            <a:spLocks noGrp="1"/>
          </p:cNvSpPr>
          <p:nvPr>
            <p:ph type="title"/>
          </p:nvPr>
        </p:nvSpPr>
        <p:spPr>
          <a:xfrm>
            <a:off x="774716" y="151244"/>
            <a:ext cx="77040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/>
              <a:t>Команда проекта</a:t>
            </a:r>
            <a:endParaRPr sz="40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856833"/>
              </p:ext>
            </p:extLst>
          </p:nvPr>
        </p:nvGraphicFramePr>
        <p:xfrm>
          <a:off x="1259632" y="987574"/>
          <a:ext cx="6840760" cy="3574001"/>
        </p:xfrm>
        <a:graphic>
          <a:graphicData uri="http://schemas.openxmlformats.org/drawingml/2006/table">
            <a:tbl>
              <a:tblPr>
                <a:tableStyleId>{127AD5CD-4F39-4C49-A878-D5542484D067}</a:tableStyleId>
              </a:tblPr>
              <a:tblGrid>
                <a:gridCol w="1594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81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Участник</a:t>
                      </a:r>
                      <a:endParaRPr lang="ru-RU" sz="1200" b="1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Роль</a:t>
                      </a:r>
                      <a:endParaRPr lang="ru-RU" sz="1200" b="1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u="none" strike="noStrike" dirty="0">
                          <a:solidFill>
                            <a:schemeClr val="accent1"/>
                          </a:solidFill>
                          <a:effectLst/>
                        </a:rPr>
                        <a:t>Зона ответственности</a:t>
                      </a:r>
                      <a:endParaRPr lang="ru-RU" sz="1200" b="1" i="0" u="none" strike="noStrike" dirty="0">
                        <a:solidFill>
                          <a:schemeClr val="accent1"/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81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Сутормина Виктория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Team Lead</a:t>
                      </a:r>
                      <a:endParaRPr lang="en-US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Планирование, распределение задач, контроль сроков, координация команды, документация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659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Демина Мария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Аналитик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Сбор требований, ТЗ, критерии успеха, диаграммы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2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Меньшикова Виктория</a:t>
                      </a:r>
                      <a:endParaRPr lang="ru-RU" sz="1200" b="0" i="0" u="none" strike="noStrike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Frontend / </a:t>
                      </a:r>
                      <a:r>
                        <a:rPr lang="en-US" sz="1200" u="none" strike="noStrike" dirty="0" err="1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Fullstack</a:t>
                      </a:r>
                      <a:endParaRPr lang="en-US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Интерфейс, страницы конструктора, форма создания шаблонов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25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Хромышев Алексей</a:t>
                      </a:r>
                      <a:endParaRPr lang="ru-RU" sz="1200" b="0" i="0" u="none" strike="noStrike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Backend / Fullstack</a:t>
                      </a:r>
                      <a:endParaRPr lang="en-US" sz="1200" b="0" i="0" u="none" strike="noStrike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Серверная логика, журнал, интеграция данных заказчиков</a:t>
                      </a:r>
                      <a:r>
                        <a:rPr lang="ru-RU" sz="1200" b="0" i="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libri"/>
                        </a:rPr>
                        <a:t>,</a:t>
                      </a:r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 сохранение и</a:t>
                      </a:r>
                      <a:r>
                        <a:rPr lang="ru-RU" sz="1200" u="none" strike="noStrike" baseline="0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загрузка шаблонов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5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Сурин Александр</a:t>
                      </a:r>
                      <a:endParaRPr lang="ru-RU" sz="1200" b="0" i="0" u="none" strike="noStrike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1С-разработчик</a:t>
                      </a:r>
                      <a:endParaRPr lang="ru-RU" sz="1200" b="0" i="0" u="none" strike="noStrike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u="none" strike="noStrike" dirty="0">
                          <a:solidFill>
                            <a:schemeClr val="bg2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База 1С, HTTP-сервис</a:t>
                      </a:r>
                      <a:endParaRPr lang="ru-RU" sz="1200" b="0" i="0" u="none" strike="noStrike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5297" marR="5297" marT="5297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7" name="Google Shape;709;p45"/>
          <p:cNvCxnSpPr/>
          <p:nvPr/>
        </p:nvCxnSpPr>
        <p:spPr>
          <a:xfrm flipH="1">
            <a:off x="1105716" y="804782"/>
            <a:ext cx="9900" cy="2055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709;p45"/>
          <p:cNvCxnSpPr/>
          <p:nvPr/>
        </p:nvCxnSpPr>
        <p:spPr>
          <a:xfrm flipH="1">
            <a:off x="8299600" y="2847580"/>
            <a:ext cx="9900" cy="2055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709;p45"/>
          <p:cNvCxnSpPr/>
          <p:nvPr/>
        </p:nvCxnSpPr>
        <p:spPr>
          <a:xfrm>
            <a:off x="8478716" y="3291830"/>
            <a:ext cx="0" cy="1431776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709;p45"/>
          <p:cNvCxnSpPr/>
          <p:nvPr/>
        </p:nvCxnSpPr>
        <p:spPr>
          <a:xfrm>
            <a:off x="899592" y="483518"/>
            <a:ext cx="0" cy="1431776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"/>
          <p:cNvSpPr txBox="1">
            <a:spLocks noGrp="1"/>
          </p:cNvSpPr>
          <p:nvPr>
            <p:ph type="title"/>
          </p:nvPr>
        </p:nvSpPr>
        <p:spPr>
          <a:xfrm>
            <a:off x="-468560" y="27085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/>
              <a:t>Аналитика проекта</a:t>
            </a:r>
            <a:endParaRPr sz="40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0736" y="1246128"/>
            <a:ext cx="35870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bg2">
                    <a:lumMod val="75000"/>
                  </a:schemeClr>
                </a:solidFill>
              </a:rPr>
              <a:t>;</a:t>
            </a:r>
            <a:br>
              <a:rPr lang="ru-RU" sz="1100" dirty="0">
                <a:solidFill>
                  <a:schemeClr val="bg2">
                    <a:lumMod val="75000"/>
                  </a:schemeClr>
                </a:solidFill>
              </a:rPr>
            </a:br>
            <a:endParaRPr lang="ru-RU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10" name="Google Shape;569;p35"/>
          <p:cNvCxnSpPr/>
          <p:nvPr/>
        </p:nvCxnSpPr>
        <p:spPr>
          <a:xfrm>
            <a:off x="251520" y="942994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569;p35"/>
          <p:cNvCxnSpPr/>
          <p:nvPr/>
        </p:nvCxnSpPr>
        <p:spPr>
          <a:xfrm>
            <a:off x="107504" y="1864616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572;p35"/>
          <p:cNvCxnSpPr/>
          <p:nvPr/>
        </p:nvCxnSpPr>
        <p:spPr>
          <a:xfrm flipH="1">
            <a:off x="4665170" y="4803998"/>
            <a:ext cx="275942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572;p35"/>
          <p:cNvCxnSpPr/>
          <p:nvPr/>
        </p:nvCxnSpPr>
        <p:spPr>
          <a:xfrm flipH="1">
            <a:off x="6044881" y="5020022"/>
            <a:ext cx="201772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569;p35"/>
          <p:cNvCxnSpPr/>
          <p:nvPr/>
        </p:nvCxnSpPr>
        <p:spPr>
          <a:xfrm>
            <a:off x="8316416" y="3192394"/>
            <a:ext cx="0" cy="129614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69;p35"/>
          <p:cNvCxnSpPr/>
          <p:nvPr/>
        </p:nvCxnSpPr>
        <p:spPr>
          <a:xfrm>
            <a:off x="8460432" y="965773"/>
            <a:ext cx="0" cy="5607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193" y="1526483"/>
            <a:ext cx="2195512" cy="2357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390235" y="4000011"/>
            <a:ext cx="19992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Анализ конкурентов</a:t>
            </a:r>
            <a:endParaRPr lang="ru-RU" sz="11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073" y="1561221"/>
            <a:ext cx="3587328" cy="22428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571702" y="3987836"/>
            <a:ext cx="379158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Требования на основе анализа конкурентов</a:t>
            </a:r>
            <a:endParaRPr lang="ru-RU" sz="11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34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"/>
          <p:cNvSpPr txBox="1">
            <a:spLocks noGrp="1"/>
          </p:cNvSpPr>
          <p:nvPr>
            <p:ph type="title"/>
          </p:nvPr>
        </p:nvSpPr>
        <p:spPr>
          <a:xfrm>
            <a:off x="1115616" y="-552960"/>
            <a:ext cx="5067600" cy="174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Диаграммы</a:t>
            </a:r>
            <a:endParaRPr dirty="0"/>
          </a:p>
        </p:txBody>
      </p:sp>
      <p:cxnSp>
        <p:nvCxnSpPr>
          <p:cNvPr id="625" name="Google Shape;625;p39"/>
          <p:cNvCxnSpPr/>
          <p:nvPr/>
        </p:nvCxnSpPr>
        <p:spPr>
          <a:xfrm rot="10800000">
            <a:off x="611560" y="4299942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9"/>
          <p:cNvCxnSpPr/>
          <p:nvPr/>
        </p:nvCxnSpPr>
        <p:spPr>
          <a:xfrm rot="10800000">
            <a:off x="979925" y="25"/>
            <a:ext cx="0" cy="1699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9"/>
          <p:cNvSpPr/>
          <p:nvPr/>
        </p:nvSpPr>
        <p:spPr>
          <a:xfrm>
            <a:off x="6693600" y="0"/>
            <a:ext cx="2450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624;p39"/>
          <p:cNvCxnSpPr/>
          <p:nvPr/>
        </p:nvCxnSpPr>
        <p:spPr>
          <a:xfrm flipH="1">
            <a:off x="6549237" y="339502"/>
            <a:ext cx="246785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624;p39"/>
          <p:cNvCxnSpPr/>
          <p:nvPr/>
        </p:nvCxnSpPr>
        <p:spPr>
          <a:xfrm flipV="1">
            <a:off x="770687" y="447514"/>
            <a:ext cx="1" cy="151216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561807-9F43-1C1B-751E-EE7FFC71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61" y="1354505"/>
            <a:ext cx="7636075" cy="2619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6DEE65-F06C-697B-9616-3C9FED7BBC2E}"/>
              </a:ext>
            </a:extLst>
          </p:cNvPr>
          <p:cNvSpPr txBox="1"/>
          <p:nvPr/>
        </p:nvSpPr>
        <p:spPr>
          <a:xfrm>
            <a:off x="4572000" y="4060734"/>
            <a:ext cx="46077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BPMN</a:t>
            </a:r>
            <a:endParaRPr lang="ru-RU" sz="14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>
          <a:extLst>
            <a:ext uri="{FF2B5EF4-FFF2-40B4-BE49-F238E27FC236}">
              <a16:creationId xmlns:a16="http://schemas.microsoft.com/office/drawing/2014/main" id="{44A56068-11A8-116F-2FBD-4B907A10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5" name="Google Shape;625;p39">
            <a:extLst>
              <a:ext uri="{FF2B5EF4-FFF2-40B4-BE49-F238E27FC236}">
                <a16:creationId xmlns:a16="http://schemas.microsoft.com/office/drawing/2014/main" id="{C303F0D5-9B59-DC5A-7C44-FB845B9885B3}"/>
              </a:ext>
            </a:extLst>
          </p:cNvPr>
          <p:cNvCxnSpPr/>
          <p:nvPr/>
        </p:nvCxnSpPr>
        <p:spPr>
          <a:xfrm rot="10800000">
            <a:off x="610722" y="4637167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p39">
            <a:extLst>
              <a:ext uri="{FF2B5EF4-FFF2-40B4-BE49-F238E27FC236}">
                <a16:creationId xmlns:a16="http://schemas.microsoft.com/office/drawing/2014/main" id="{7486D35E-B4A5-FEF8-D7F3-94AFB7B3F06A}"/>
              </a:ext>
            </a:extLst>
          </p:cNvPr>
          <p:cNvCxnSpPr/>
          <p:nvPr/>
        </p:nvCxnSpPr>
        <p:spPr>
          <a:xfrm rot="10800000">
            <a:off x="979925" y="25"/>
            <a:ext cx="0" cy="1699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7" name="Google Shape;627;p39">
            <a:extLst>
              <a:ext uri="{FF2B5EF4-FFF2-40B4-BE49-F238E27FC236}">
                <a16:creationId xmlns:a16="http://schemas.microsoft.com/office/drawing/2014/main" id="{3363AA2B-CD3C-3F50-A3C6-62FD6CF410CF}"/>
              </a:ext>
            </a:extLst>
          </p:cNvPr>
          <p:cNvSpPr/>
          <p:nvPr/>
        </p:nvSpPr>
        <p:spPr>
          <a:xfrm>
            <a:off x="6693600" y="0"/>
            <a:ext cx="24504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624;p39">
            <a:extLst>
              <a:ext uri="{FF2B5EF4-FFF2-40B4-BE49-F238E27FC236}">
                <a16:creationId xmlns:a16="http://schemas.microsoft.com/office/drawing/2014/main" id="{1F26A699-029F-51D7-9DCA-F9729644D887}"/>
              </a:ext>
            </a:extLst>
          </p:cNvPr>
          <p:cNvCxnSpPr/>
          <p:nvPr/>
        </p:nvCxnSpPr>
        <p:spPr>
          <a:xfrm flipH="1">
            <a:off x="6549237" y="339502"/>
            <a:ext cx="246785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624;p39">
            <a:extLst>
              <a:ext uri="{FF2B5EF4-FFF2-40B4-BE49-F238E27FC236}">
                <a16:creationId xmlns:a16="http://schemas.microsoft.com/office/drawing/2014/main" id="{C638D630-52E5-673D-A5A4-3DA238FF04BC}"/>
              </a:ext>
            </a:extLst>
          </p:cNvPr>
          <p:cNvCxnSpPr/>
          <p:nvPr/>
        </p:nvCxnSpPr>
        <p:spPr>
          <a:xfrm flipV="1">
            <a:off x="770687" y="447514"/>
            <a:ext cx="1" cy="151216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625;p39">
            <a:extLst>
              <a:ext uri="{FF2B5EF4-FFF2-40B4-BE49-F238E27FC236}">
                <a16:creationId xmlns:a16="http://schemas.microsoft.com/office/drawing/2014/main" id="{9717274E-F909-03F5-04EA-633915167D30}"/>
              </a:ext>
            </a:extLst>
          </p:cNvPr>
          <p:cNvCxnSpPr/>
          <p:nvPr/>
        </p:nvCxnSpPr>
        <p:spPr>
          <a:xfrm rot="10800000">
            <a:off x="2367827" y="2499742"/>
            <a:ext cx="28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1EA9D28-13A1-FB52-F5C3-8482EDDED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032" y="587719"/>
            <a:ext cx="7174399" cy="3801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D4CCB3-FCFF-840B-B704-C0F6FA7073DB}"/>
              </a:ext>
            </a:extLst>
          </p:cNvPr>
          <p:cNvSpPr txBox="1"/>
          <p:nvPr/>
        </p:nvSpPr>
        <p:spPr>
          <a:xfrm>
            <a:off x="3707904" y="44832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ERD + </a:t>
            </a:r>
            <a:r>
              <a:rPr lang="ru-RU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диаграмма классов</a:t>
            </a:r>
            <a:endParaRPr lang="ru-RU" sz="14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24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2"/>
          <p:cNvSpPr txBox="1">
            <a:spLocks noGrp="1"/>
          </p:cNvSpPr>
          <p:nvPr>
            <p:ph type="title"/>
          </p:nvPr>
        </p:nvSpPr>
        <p:spPr>
          <a:xfrm>
            <a:off x="304340" y="445775"/>
            <a:ext cx="770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/>
              <a:t>Проектная документация</a:t>
            </a:r>
            <a:endParaRPr sz="4000" dirty="0"/>
          </a:p>
        </p:txBody>
      </p:sp>
      <p:pic>
        <p:nvPicPr>
          <p:cNvPr id="6" name="Picture 1808469434"/>
          <p:cNvPicPr/>
          <p:nvPr/>
        </p:nvPicPr>
        <p:blipFill>
          <a:blip r:embed="rId3"/>
          <a:stretch>
            <a:fillRect/>
          </a:stretch>
        </p:blipFill>
        <p:spPr>
          <a:xfrm>
            <a:off x="248820" y="1536203"/>
            <a:ext cx="1872208" cy="23551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808469435"/>
          <p:cNvPicPr/>
          <p:nvPr/>
        </p:nvPicPr>
        <p:blipFill>
          <a:blip r:embed="rId4"/>
          <a:stretch>
            <a:fillRect/>
          </a:stretch>
        </p:blipFill>
        <p:spPr>
          <a:xfrm>
            <a:off x="2466457" y="1523924"/>
            <a:ext cx="1944216" cy="23796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1808469436"/>
          <p:cNvPicPr/>
          <p:nvPr/>
        </p:nvPicPr>
        <p:blipFill>
          <a:blip r:embed="rId5"/>
          <a:stretch>
            <a:fillRect/>
          </a:stretch>
        </p:blipFill>
        <p:spPr>
          <a:xfrm>
            <a:off x="7095737" y="1505128"/>
            <a:ext cx="1709930" cy="23706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808469437"/>
          <p:cNvPicPr/>
          <p:nvPr/>
        </p:nvPicPr>
        <p:blipFill>
          <a:blip r:embed="rId6"/>
          <a:stretch>
            <a:fillRect/>
          </a:stretch>
        </p:blipFill>
        <p:spPr>
          <a:xfrm>
            <a:off x="4820754" y="1511905"/>
            <a:ext cx="1754846" cy="2330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3" name="Google Shape;624;p39"/>
          <p:cNvCxnSpPr/>
          <p:nvPr/>
        </p:nvCxnSpPr>
        <p:spPr>
          <a:xfrm flipH="1">
            <a:off x="382832" y="1289340"/>
            <a:ext cx="560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624;p39"/>
          <p:cNvCxnSpPr/>
          <p:nvPr/>
        </p:nvCxnSpPr>
        <p:spPr>
          <a:xfrm flipH="1">
            <a:off x="7452320" y="256924"/>
            <a:ext cx="5605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624;p39"/>
          <p:cNvCxnSpPr/>
          <p:nvPr/>
        </p:nvCxnSpPr>
        <p:spPr>
          <a:xfrm flipV="1">
            <a:off x="8820472" y="3867313"/>
            <a:ext cx="0" cy="78414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Прямоугольник 13"/>
          <p:cNvSpPr/>
          <p:nvPr/>
        </p:nvSpPr>
        <p:spPr>
          <a:xfrm>
            <a:off x="467544" y="3997777"/>
            <a:ext cx="207603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Карточка проекта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3145856" y="3997777"/>
            <a:ext cx="58541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b="1" dirty="0">
                <a:solidFill>
                  <a:schemeClr val="tx1"/>
                </a:solidFill>
              </a:rPr>
              <a:t>Устав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148064" y="3936829"/>
            <a:ext cx="11906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Инструкция пользователя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7185067" y="3949674"/>
            <a:ext cx="1340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accent4"/>
                </a:solidFill>
              </a:rPr>
              <a:t>Инструкция администратора</a:t>
            </a:r>
          </a:p>
        </p:txBody>
      </p:sp>
      <p:cxnSp>
        <p:nvCxnSpPr>
          <p:cNvPr id="20" name="Google Shape;624;p39"/>
          <p:cNvCxnSpPr>
            <a:cxnSpLocks/>
          </p:cNvCxnSpPr>
          <p:nvPr/>
        </p:nvCxnSpPr>
        <p:spPr>
          <a:xfrm flipH="1">
            <a:off x="382832" y="4633603"/>
            <a:ext cx="133212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624;p39"/>
          <p:cNvCxnSpPr/>
          <p:nvPr/>
        </p:nvCxnSpPr>
        <p:spPr>
          <a:xfrm flipH="1">
            <a:off x="1416688" y="4515966"/>
            <a:ext cx="71169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1C48D0-C3A5-6047-8A38-6094D06B89B9}"/>
              </a:ext>
            </a:extLst>
          </p:cNvPr>
          <p:cNvSpPr txBox="1"/>
          <p:nvPr/>
        </p:nvSpPr>
        <p:spPr>
          <a:xfrm>
            <a:off x="884684" y="12347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Frontend</a:t>
            </a:r>
            <a:endParaRPr lang="ru-RU" sz="3600" b="1" dirty="0">
              <a:solidFill>
                <a:schemeClr val="tx1"/>
              </a:solidFill>
            </a:endParaRPr>
          </a:p>
        </p:txBody>
      </p:sp>
      <p:pic>
        <p:nvPicPr>
          <p:cNvPr id="5" name="Picture 4" descr="Файл:Logo HTML.png — Викиверситет">
            <a:extLst>
              <a:ext uri="{FF2B5EF4-FFF2-40B4-BE49-F238E27FC236}">
                <a16:creationId xmlns:a16="http://schemas.microsoft.com/office/drawing/2014/main" id="{9D682DEE-DFD2-7CB8-1179-C653ACF23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055" y="197202"/>
            <a:ext cx="543802" cy="5438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ss3 logo: смотрите и скачивайте изображения — Яндекс Картинки">
            <a:extLst>
              <a:ext uri="{FF2B5EF4-FFF2-40B4-BE49-F238E27FC236}">
                <a16:creationId xmlns:a16="http://schemas.microsoft.com/office/drawing/2014/main" id="{668ED072-AAAC-699D-322D-D6A71C838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962" b="92089" l="9792" r="89792">
                        <a14:foregroundMark x1="51667" y1="35443" x2="59375" y2="51582"/>
                        <a14:foregroundMark x1="37500" y1="35127" x2="48542" y2="68671"/>
                        <a14:foregroundMark x1="33333" y1="36076" x2="48542" y2="68987"/>
                        <a14:foregroundMark x1="43750" y1="30696" x2="51250" y2="73101"/>
                        <a14:foregroundMark x1="37500" y1="18038" x2="55833" y2="14557"/>
                        <a14:foregroundMark x1="60625" y1="18671" x2="71458" y2="43354"/>
                        <a14:foregroundMark x1="69792" y1="55696" x2="61667" y2="84810"/>
                        <a14:foregroundMark x1="58958" y1="85127" x2="33542" y2="73101"/>
                        <a14:foregroundMark x1="31250" y1="69620" x2="34375" y2="26266"/>
                        <a14:foregroundMark x1="36042" y1="23418" x2="64583" y2="22468"/>
                        <a14:foregroundMark x1="64583" y1="29114" x2="65833" y2="65190"/>
                        <a14:foregroundMark x1="65000" y1="72785" x2="55208" y2="78797"/>
                        <a14:foregroundMark x1="44792" y1="80063" x2="65208" y2="70886"/>
                        <a14:foregroundMark x1="61250" y1="37025" x2="59167" y2="71519"/>
                        <a14:foregroundMark x1="41667" y1="53481" x2="44375" y2="74367"/>
                        <a14:foregroundMark x1="40833" y1="23101" x2="61458" y2="29114"/>
                        <a14:foregroundMark x1="41042" y1="25949" x2="45625" y2="32911"/>
                        <a14:foregroundMark x1="41875" y1="24684" x2="52083" y2="33544"/>
                        <a14:foregroundMark x1="50208" y1="23101" x2="62500" y2="36076"/>
                        <a14:foregroundMark x1="48958" y1="11392" x2="48958" y2="11392"/>
                        <a14:foregroundMark x1="48333" y1="8861" x2="50208" y2="9494"/>
                        <a14:foregroundMark x1="49167" y1="8544" x2="49167" y2="7278"/>
                        <a14:foregroundMark x1="45000" y1="92089" x2="50000" y2="917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9316" y="123478"/>
            <a:ext cx="1050000" cy="6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 descr="Изображение выглядит как текст, снимок экрана, программное обеспечение, Веб-сай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0DBC13F-338B-F3AF-E562-DE895C4FA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712" y="656521"/>
            <a:ext cx="5611619" cy="43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58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7BBF680-A37E-9EAA-584B-3EDB047BB8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03851" y="529157"/>
            <a:ext cx="6536298" cy="4085186"/>
          </a:xfrm>
          <a:prstGeom prst="roundRect">
            <a:avLst>
              <a:gd name="adj" fmla="val 1896"/>
            </a:avLst>
          </a:prstGeom>
          <a:effectLst>
            <a:outerShdw blurRad="63500" sx="102000" sy="102000" algn="ctr" rotWithShape="0">
              <a:prstClr val="black">
                <a:alpha val="1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1247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D16ACF9-7358-034E-4E58-F77488420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1" t="29820" r="1202" b="16367"/>
          <a:stretch/>
        </p:blipFill>
        <p:spPr>
          <a:xfrm>
            <a:off x="755576" y="1208243"/>
            <a:ext cx="7925380" cy="2727013"/>
          </a:xfrm>
          <a:prstGeom prst="roundRect">
            <a:avLst>
              <a:gd name="adj" fmla="val 2802"/>
            </a:avLst>
          </a:prstGeom>
          <a:effectLst>
            <a:outerShdw blurRad="63500" sx="102000" sy="102000" algn="ctr" rotWithShape="0">
              <a:prstClr val="black">
                <a:alpha val="1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5811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текст, электроника, снимок экран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9543FAA-072C-26D0-8ED5-4BDCD70B1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763" y="0"/>
            <a:ext cx="64264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8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"/>
          <a:stretch/>
        </p:blipFill>
        <p:spPr bwMode="auto">
          <a:xfrm>
            <a:off x="764985" y="752748"/>
            <a:ext cx="7614030" cy="3638003"/>
          </a:xfrm>
          <a:prstGeom prst="roundRect">
            <a:avLst>
              <a:gd name="adj" fmla="val 1936"/>
            </a:avLst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13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3525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13" b="2901"/>
          <a:stretch/>
        </p:blipFill>
        <p:spPr bwMode="auto">
          <a:xfrm>
            <a:off x="971600" y="841510"/>
            <a:ext cx="7488832" cy="3460480"/>
          </a:xfrm>
          <a:prstGeom prst="roundRect">
            <a:avLst>
              <a:gd name="adj" fmla="val 1539"/>
            </a:avLst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13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4304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1"/>
          <p:cNvSpPr txBox="1">
            <a:spLocks noGrp="1"/>
          </p:cNvSpPr>
          <p:nvPr>
            <p:ph type="title"/>
          </p:nvPr>
        </p:nvSpPr>
        <p:spPr>
          <a:xfrm>
            <a:off x="-1237415" y="2693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>
                <a:solidFill>
                  <a:srgbClr val="FFFF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1С.</a:t>
            </a:r>
            <a:r>
              <a:rPr lang="ru-RU" dirty="0">
                <a:latin typeface="Cascadia Code" panose="020B0609020000020004" pitchFamily="49" charset="0"/>
                <a:cs typeface="Cascadia Code" panose="020B0609020000020004" pitchFamily="49" charset="0"/>
              </a:rPr>
              <a:t>База данных</a:t>
            </a:r>
            <a:endParaRPr dirty="0"/>
          </a:p>
        </p:txBody>
      </p:sp>
      <p:cxnSp>
        <p:nvCxnSpPr>
          <p:cNvPr id="646" name="Google Shape;646;p41"/>
          <p:cNvCxnSpPr/>
          <p:nvPr/>
        </p:nvCxnSpPr>
        <p:spPr>
          <a:xfrm>
            <a:off x="0" y="1017725"/>
            <a:ext cx="7724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41"/>
          <p:cNvCxnSpPr/>
          <p:nvPr/>
        </p:nvCxnSpPr>
        <p:spPr>
          <a:xfrm>
            <a:off x="3674013" y="1481725"/>
            <a:ext cx="0" cy="77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41"/>
          <p:cNvCxnSpPr/>
          <p:nvPr/>
        </p:nvCxnSpPr>
        <p:spPr>
          <a:xfrm>
            <a:off x="3674013" y="2591025"/>
            <a:ext cx="0" cy="77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49;p41"/>
          <p:cNvCxnSpPr/>
          <p:nvPr/>
        </p:nvCxnSpPr>
        <p:spPr>
          <a:xfrm>
            <a:off x="3674013" y="3795886"/>
            <a:ext cx="0" cy="77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0" name="Google Shape;650;p41"/>
          <p:cNvSpPr/>
          <p:nvPr/>
        </p:nvSpPr>
        <p:spPr>
          <a:xfrm>
            <a:off x="-70450" y="0"/>
            <a:ext cx="790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2DA262A-F529-89C3-9690-8C137D6D3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979" y="3179510"/>
            <a:ext cx="3162413" cy="1530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DB3973E-2CE1-9E9E-2A66-E6573E3C5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1347614"/>
            <a:ext cx="2304256" cy="31015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7DC5374-D893-CA37-4F43-EB4AAF3056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424"/>
          <a:stretch/>
        </p:blipFill>
        <p:spPr>
          <a:xfrm>
            <a:off x="4298619" y="729631"/>
            <a:ext cx="4441132" cy="2334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3" name="Google Shape;647;p41"/>
          <p:cNvCxnSpPr>
            <a:cxnSpLocks/>
          </p:cNvCxnSpPr>
          <p:nvPr/>
        </p:nvCxnSpPr>
        <p:spPr>
          <a:xfrm>
            <a:off x="6452785" y="627534"/>
            <a:ext cx="205253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647;p41"/>
          <p:cNvCxnSpPr/>
          <p:nvPr/>
        </p:nvCxnSpPr>
        <p:spPr>
          <a:xfrm>
            <a:off x="827584" y="4600864"/>
            <a:ext cx="913727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Picture 2" descr="Логотип 1с: смотрите и скачивайте изображения — Яндекс Картинки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20" y="4243396"/>
            <a:ext cx="654780" cy="6547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 – Бесплатные иконки: интерфейс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419" y="3310629"/>
            <a:ext cx="540060" cy="54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"/>
          <p:cNvSpPr txBox="1">
            <a:spLocks noGrp="1"/>
          </p:cNvSpPr>
          <p:nvPr>
            <p:ph type="title"/>
          </p:nvPr>
        </p:nvSpPr>
        <p:spPr>
          <a:xfrm>
            <a:off x="-201701" y="415623"/>
            <a:ext cx="6054840" cy="622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Backend </a:t>
            </a:r>
            <a:r>
              <a:rPr lang="ru-RU" sz="3600" dirty="0">
                <a:solidFill>
                  <a:schemeClr val="tx1"/>
                </a:solidFill>
              </a:rPr>
              <a:t>и и</a:t>
            </a:r>
            <a:r>
              <a:rPr lang="ru-RU" sz="3600" dirty="0"/>
              <a:t>нтеграция</a:t>
            </a:r>
            <a:endParaRPr sz="3600" dirty="0"/>
          </a:p>
        </p:txBody>
      </p:sp>
      <p:cxnSp>
        <p:nvCxnSpPr>
          <p:cNvPr id="10" name="Google Shape;569;p35"/>
          <p:cNvCxnSpPr/>
          <p:nvPr/>
        </p:nvCxnSpPr>
        <p:spPr>
          <a:xfrm>
            <a:off x="251520" y="942994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569;p35"/>
          <p:cNvCxnSpPr/>
          <p:nvPr/>
        </p:nvCxnSpPr>
        <p:spPr>
          <a:xfrm>
            <a:off x="107504" y="1864616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572;p35"/>
          <p:cNvCxnSpPr/>
          <p:nvPr/>
        </p:nvCxnSpPr>
        <p:spPr>
          <a:xfrm flipH="1">
            <a:off x="4665170" y="4803998"/>
            <a:ext cx="275942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572;p35"/>
          <p:cNvCxnSpPr/>
          <p:nvPr/>
        </p:nvCxnSpPr>
        <p:spPr>
          <a:xfrm flipH="1">
            <a:off x="6044881" y="5020022"/>
            <a:ext cx="201772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569;p35"/>
          <p:cNvCxnSpPr/>
          <p:nvPr/>
        </p:nvCxnSpPr>
        <p:spPr>
          <a:xfrm>
            <a:off x="8316416" y="3192394"/>
            <a:ext cx="0" cy="129614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69;p35"/>
          <p:cNvCxnSpPr/>
          <p:nvPr/>
        </p:nvCxnSpPr>
        <p:spPr>
          <a:xfrm>
            <a:off x="8460432" y="965773"/>
            <a:ext cx="0" cy="5607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572;p35"/>
          <p:cNvCxnSpPr/>
          <p:nvPr/>
        </p:nvCxnSpPr>
        <p:spPr>
          <a:xfrm flipH="1">
            <a:off x="683568" y="1131590"/>
            <a:ext cx="172819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572;p35"/>
          <p:cNvCxnSpPr/>
          <p:nvPr/>
        </p:nvCxnSpPr>
        <p:spPr>
          <a:xfrm flipH="1">
            <a:off x="4099778" y="1246128"/>
            <a:ext cx="74747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572;p35"/>
          <p:cNvCxnSpPr/>
          <p:nvPr/>
        </p:nvCxnSpPr>
        <p:spPr>
          <a:xfrm flipH="1">
            <a:off x="6681157" y="627534"/>
            <a:ext cx="730834" cy="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6" descr="Логотип языка python – Бесплатные иконки: технологи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996" y="4208182"/>
            <a:ext cx="560712" cy="5607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JavaScript Tutoria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800" y="339502"/>
            <a:ext cx="432048" cy="4320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F6CC449-12B5-73FA-5E46-63C78CAB5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931" y="1517337"/>
            <a:ext cx="5036946" cy="2052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3A1BF4-5581-8D1B-5610-FB70B9F131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154" y="914417"/>
            <a:ext cx="2855985" cy="37843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3249D7-BB02-20F0-4B3B-5D4FCF70C0CE}"/>
              </a:ext>
            </a:extLst>
          </p:cNvPr>
          <p:cNvSpPr/>
          <p:nvPr/>
        </p:nvSpPr>
        <p:spPr>
          <a:xfrm>
            <a:off x="1286996" y="3687028"/>
            <a:ext cx="33964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Функция для журнала на </a:t>
            </a:r>
            <a:r>
              <a:rPr lang="en-US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Python </a:t>
            </a:r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и </a:t>
            </a:r>
            <a:r>
              <a:rPr lang="en-US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JavaScript</a:t>
            </a:r>
            <a:endParaRPr lang="ru-RU" sz="11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360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>
          <a:extLst>
            <a:ext uri="{FF2B5EF4-FFF2-40B4-BE49-F238E27FC236}">
              <a16:creationId xmlns:a16="http://schemas.microsoft.com/office/drawing/2014/main" id="{51B3DC30-D0C2-5E05-1D29-F9C307184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6">
            <a:extLst>
              <a:ext uri="{FF2B5EF4-FFF2-40B4-BE49-F238E27FC236}">
                <a16:creationId xmlns:a16="http://schemas.microsoft.com/office/drawing/2014/main" id="{A9150520-EC8C-F90F-5328-EC8EFA6A4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69413" y="21838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>
                <a:solidFill>
                  <a:schemeClr val="tx1"/>
                </a:solidFill>
              </a:rPr>
              <a:t>Backend </a:t>
            </a:r>
            <a:r>
              <a:rPr lang="ru-RU" sz="3600" dirty="0">
                <a:solidFill>
                  <a:schemeClr val="tx1"/>
                </a:solidFill>
              </a:rPr>
              <a:t>и и</a:t>
            </a:r>
            <a:r>
              <a:rPr lang="ru-RU" sz="3600" dirty="0"/>
              <a:t>нтеграция</a:t>
            </a:r>
            <a:endParaRPr sz="3600" dirty="0"/>
          </a:p>
        </p:txBody>
      </p:sp>
      <p:cxnSp>
        <p:nvCxnSpPr>
          <p:cNvPr id="10" name="Google Shape;569;p35">
            <a:extLst>
              <a:ext uri="{FF2B5EF4-FFF2-40B4-BE49-F238E27FC236}">
                <a16:creationId xmlns:a16="http://schemas.microsoft.com/office/drawing/2014/main" id="{9072D535-0D6E-FB02-6F39-099D8A8B0882}"/>
              </a:ext>
            </a:extLst>
          </p:cNvPr>
          <p:cNvCxnSpPr/>
          <p:nvPr/>
        </p:nvCxnSpPr>
        <p:spPr>
          <a:xfrm>
            <a:off x="251520" y="942994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569;p35">
            <a:extLst>
              <a:ext uri="{FF2B5EF4-FFF2-40B4-BE49-F238E27FC236}">
                <a16:creationId xmlns:a16="http://schemas.microsoft.com/office/drawing/2014/main" id="{2CDC2233-8AA8-ED77-FBBD-9B8D13ED26F0}"/>
              </a:ext>
            </a:extLst>
          </p:cNvPr>
          <p:cNvCxnSpPr/>
          <p:nvPr/>
        </p:nvCxnSpPr>
        <p:spPr>
          <a:xfrm>
            <a:off x="107504" y="1864616"/>
            <a:ext cx="0" cy="224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572;p35">
            <a:extLst>
              <a:ext uri="{FF2B5EF4-FFF2-40B4-BE49-F238E27FC236}">
                <a16:creationId xmlns:a16="http://schemas.microsoft.com/office/drawing/2014/main" id="{AB3E8F9F-93F8-A144-ECC9-D19E74522A65}"/>
              </a:ext>
            </a:extLst>
          </p:cNvPr>
          <p:cNvCxnSpPr/>
          <p:nvPr/>
        </p:nvCxnSpPr>
        <p:spPr>
          <a:xfrm flipH="1">
            <a:off x="4665170" y="4925112"/>
            <a:ext cx="275942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572;p35">
            <a:extLst>
              <a:ext uri="{FF2B5EF4-FFF2-40B4-BE49-F238E27FC236}">
                <a16:creationId xmlns:a16="http://schemas.microsoft.com/office/drawing/2014/main" id="{BC273AE9-57BE-4F7C-A746-C0E58237CA7F}"/>
              </a:ext>
            </a:extLst>
          </p:cNvPr>
          <p:cNvCxnSpPr/>
          <p:nvPr/>
        </p:nvCxnSpPr>
        <p:spPr>
          <a:xfrm flipH="1">
            <a:off x="6044881" y="5020022"/>
            <a:ext cx="201772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569;p35">
            <a:extLst>
              <a:ext uri="{FF2B5EF4-FFF2-40B4-BE49-F238E27FC236}">
                <a16:creationId xmlns:a16="http://schemas.microsoft.com/office/drawing/2014/main" id="{BDB2420D-A5C1-E7AE-8170-B935DCB9DD93}"/>
              </a:ext>
            </a:extLst>
          </p:cNvPr>
          <p:cNvCxnSpPr/>
          <p:nvPr/>
        </p:nvCxnSpPr>
        <p:spPr>
          <a:xfrm>
            <a:off x="8316416" y="3192394"/>
            <a:ext cx="0" cy="129614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69;p35">
            <a:extLst>
              <a:ext uri="{FF2B5EF4-FFF2-40B4-BE49-F238E27FC236}">
                <a16:creationId xmlns:a16="http://schemas.microsoft.com/office/drawing/2014/main" id="{4FF9E677-7C45-29E6-670D-BD0C788F2DE6}"/>
              </a:ext>
            </a:extLst>
          </p:cNvPr>
          <p:cNvCxnSpPr/>
          <p:nvPr/>
        </p:nvCxnSpPr>
        <p:spPr>
          <a:xfrm>
            <a:off x="8460432" y="965773"/>
            <a:ext cx="0" cy="56071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572;p35">
            <a:extLst>
              <a:ext uri="{FF2B5EF4-FFF2-40B4-BE49-F238E27FC236}">
                <a16:creationId xmlns:a16="http://schemas.microsoft.com/office/drawing/2014/main" id="{63219452-C88B-B40E-1761-CE7C4AABFEF8}"/>
              </a:ext>
            </a:extLst>
          </p:cNvPr>
          <p:cNvCxnSpPr/>
          <p:nvPr/>
        </p:nvCxnSpPr>
        <p:spPr>
          <a:xfrm flipH="1">
            <a:off x="683568" y="1197149"/>
            <a:ext cx="172819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572;p35">
            <a:extLst>
              <a:ext uri="{FF2B5EF4-FFF2-40B4-BE49-F238E27FC236}">
                <a16:creationId xmlns:a16="http://schemas.microsoft.com/office/drawing/2014/main" id="{94941A29-66D9-557D-A076-5CDDC36ADADE}"/>
              </a:ext>
            </a:extLst>
          </p:cNvPr>
          <p:cNvCxnSpPr/>
          <p:nvPr/>
        </p:nvCxnSpPr>
        <p:spPr>
          <a:xfrm flipH="1">
            <a:off x="4099778" y="1246128"/>
            <a:ext cx="74747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572;p35">
            <a:extLst>
              <a:ext uri="{FF2B5EF4-FFF2-40B4-BE49-F238E27FC236}">
                <a16:creationId xmlns:a16="http://schemas.microsoft.com/office/drawing/2014/main" id="{AE4D4238-5773-874A-2838-36B99115020D}"/>
              </a:ext>
            </a:extLst>
          </p:cNvPr>
          <p:cNvCxnSpPr/>
          <p:nvPr/>
        </p:nvCxnSpPr>
        <p:spPr>
          <a:xfrm flipH="1">
            <a:off x="6681157" y="627534"/>
            <a:ext cx="730834" cy="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CF0DDE-D0A5-776A-4753-87A0717A530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2333" y="1325396"/>
            <a:ext cx="4651917" cy="1650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45EBBD-7A9B-3A82-BAA8-32E91260F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88" y="1998577"/>
            <a:ext cx="3093538" cy="13819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D4D5F5-5FAE-8C57-E21E-5B496804A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55" y="3201681"/>
            <a:ext cx="4554803" cy="1637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15064C-4C5C-2123-A449-9CCA696083F3}"/>
              </a:ext>
            </a:extLst>
          </p:cNvPr>
          <p:cNvSpPr/>
          <p:nvPr/>
        </p:nvSpPr>
        <p:spPr>
          <a:xfrm>
            <a:off x="6029224" y="3381267"/>
            <a:ext cx="17512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Функция для заказчиков</a:t>
            </a:r>
            <a:endParaRPr lang="ru-RU" sz="9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6A005E-F8C0-C5CD-1AC1-BA860CC6A59D}"/>
              </a:ext>
            </a:extLst>
          </p:cNvPr>
          <p:cNvSpPr/>
          <p:nvPr/>
        </p:nvSpPr>
        <p:spPr>
          <a:xfrm>
            <a:off x="1710231" y="4808006"/>
            <a:ext cx="237844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Функция для наших контактов</a:t>
            </a:r>
            <a:endParaRPr lang="ru-RU" sz="9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0E1917-2C51-34D7-2282-2CEEADB6D94D}"/>
              </a:ext>
            </a:extLst>
          </p:cNvPr>
          <p:cNvSpPr/>
          <p:nvPr/>
        </p:nvSpPr>
        <p:spPr>
          <a:xfrm>
            <a:off x="1854158" y="2939935"/>
            <a:ext cx="175129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9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Пример данных заказчика</a:t>
            </a:r>
            <a:endParaRPr lang="ru-RU" sz="9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1" name="Google Shape;1942;p38"/>
          <p:cNvGrpSpPr/>
          <p:nvPr/>
        </p:nvGrpSpPr>
        <p:grpSpPr>
          <a:xfrm rot="-1558859">
            <a:off x="7216925" y="4237334"/>
            <a:ext cx="390132" cy="493933"/>
            <a:chOff x="202230" y="1878525"/>
            <a:chExt cx="166219" cy="210448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22" name="Google Shape;1943;p38"/>
            <p:cNvSpPr/>
            <p:nvPr/>
          </p:nvSpPr>
          <p:spPr>
            <a:xfrm>
              <a:off x="252586" y="2057666"/>
              <a:ext cx="108700" cy="31307"/>
            </a:xfrm>
            <a:custGeom>
              <a:avLst/>
              <a:gdLst/>
              <a:ahLst/>
              <a:cxnLst/>
              <a:rect l="l" t="t" r="r" b="b"/>
              <a:pathLst>
                <a:path w="108700" h="31307" extrusionOk="0">
                  <a:moveTo>
                    <a:pt x="102656" y="0"/>
                  </a:moveTo>
                  <a:lnTo>
                    <a:pt x="6045" y="0"/>
                  </a:lnTo>
                  <a:cubicBezTo>
                    <a:pt x="2725" y="0"/>
                    <a:pt x="0" y="3494"/>
                    <a:pt x="0" y="7827"/>
                  </a:cubicBezTo>
                  <a:lnTo>
                    <a:pt x="0" y="23480"/>
                  </a:lnTo>
                  <a:cubicBezTo>
                    <a:pt x="0" y="27813"/>
                    <a:pt x="2690" y="31307"/>
                    <a:pt x="6045" y="31307"/>
                  </a:cubicBezTo>
                  <a:lnTo>
                    <a:pt x="102656" y="31307"/>
                  </a:lnTo>
                  <a:cubicBezTo>
                    <a:pt x="105975" y="31307"/>
                    <a:pt x="108701" y="27813"/>
                    <a:pt x="108701" y="23480"/>
                  </a:cubicBezTo>
                  <a:lnTo>
                    <a:pt x="108701" y="7827"/>
                  </a:lnTo>
                  <a:cubicBezTo>
                    <a:pt x="108701" y="3494"/>
                    <a:pt x="106010" y="0"/>
                    <a:pt x="102656" y="0"/>
                  </a:cubicBez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944;p38"/>
            <p:cNvSpPr/>
            <p:nvPr/>
          </p:nvSpPr>
          <p:spPr>
            <a:xfrm>
              <a:off x="202230" y="1878525"/>
              <a:ext cx="166219" cy="185570"/>
            </a:xfrm>
            <a:custGeom>
              <a:avLst/>
              <a:gdLst/>
              <a:ahLst/>
              <a:cxnLst/>
              <a:rect l="l" t="t" r="r" b="b"/>
              <a:pathLst>
                <a:path w="166219" h="185570" extrusionOk="0">
                  <a:moveTo>
                    <a:pt x="150566" y="68204"/>
                  </a:moveTo>
                  <a:cubicBezTo>
                    <a:pt x="141971" y="68204"/>
                    <a:pt x="134913" y="75262"/>
                    <a:pt x="134913" y="83858"/>
                  </a:cubicBezTo>
                  <a:lnTo>
                    <a:pt x="134913" y="76031"/>
                  </a:lnTo>
                  <a:cubicBezTo>
                    <a:pt x="134913" y="67401"/>
                    <a:pt x="127890" y="60378"/>
                    <a:pt x="119259" y="60378"/>
                  </a:cubicBezTo>
                  <a:cubicBezTo>
                    <a:pt x="110629" y="60378"/>
                    <a:pt x="103606" y="67401"/>
                    <a:pt x="103606" y="76031"/>
                  </a:cubicBezTo>
                  <a:lnTo>
                    <a:pt x="103606" y="68204"/>
                  </a:lnTo>
                  <a:cubicBezTo>
                    <a:pt x="103606" y="59574"/>
                    <a:pt x="96583" y="52551"/>
                    <a:pt x="87952" y="52551"/>
                  </a:cubicBezTo>
                  <a:cubicBezTo>
                    <a:pt x="79322" y="52551"/>
                    <a:pt x="72299" y="59574"/>
                    <a:pt x="72299" y="68204"/>
                  </a:cubicBezTo>
                  <a:lnTo>
                    <a:pt x="72299" y="15653"/>
                  </a:lnTo>
                  <a:cubicBezTo>
                    <a:pt x="72299" y="7058"/>
                    <a:pt x="65241" y="0"/>
                    <a:pt x="56645" y="0"/>
                  </a:cubicBezTo>
                  <a:cubicBezTo>
                    <a:pt x="48050" y="0"/>
                    <a:pt x="40992" y="7058"/>
                    <a:pt x="40992" y="15653"/>
                  </a:cubicBezTo>
                  <a:lnTo>
                    <a:pt x="40992" y="113767"/>
                  </a:lnTo>
                  <a:lnTo>
                    <a:pt x="27889" y="95773"/>
                  </a:lnTo>
                  <a:cubicBezTo>
                    <a:pt x="22578" y="88889"/>
                    <a:pt x="12690" y="87806"/>
                    <a:pt x="5981" y="93257"/>
                  </a:cubicBezTo>
                  <a:cubicBezTo>
                    <a:pt x="-902" y="98568"/>
                    <a:pt x="-1985" y="108456"/>
                    <a:pt x="3466" y="115165"/>
                  </a:cubicBezTo>
                  <a:lnTo>
                    <a:pt x="51160" y="185571"/>
                  </a:lnTo>
                  <a:lnTo>
                    <a:pt x="155388" y="185571"/>
                  </a:lnTo>
                  <a:cubicBezTo>
                    <a:pt x="161957" y="179840"/>
                    <a:pt x="166220" y="171454"/>
                    <a:pt x="166220" y="162090"/>
                  </a:cubicBezTo>
                  <a:lnTo>
                    <a:pt x="166220" y="83823"/>
                  </a:lnTo>
                  <a:cubicBezTo>
                    <a:pt x="166220" y="75227"/>
                    <a:pt x="159162" y="68169"/>
                    <a:pt x="150566" y="68169"/>
                  </a:cubicBezTo>
                  <a:close/>
                </a:path>
              </a:pathLst>
            </a:custGeom>
            <a:grp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442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авнобедренный треугольник 5"/>
          <p:cNvSpPr/>
          <p:nvPr/>
        </p:nvSpPr>
        <p:spPr>
          <a:xfrm rot="19888331">
            <a:off x="7032991" y="1222709"/>
            <a:ext cx="144350" cy="14401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7740352" y="1188173"/>
            <a:ext cx="363870" cy="46289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7092280" y="1337435"/>
            <a:ext cx="648072" cy="1594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734913" y="1203597"/>
            <a:ext cx="357367" cy="46289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6734913" y="1419622"/>
            <a:ext cx="1365479" cy="2520280"/>
          </a:xfrm>
          <a:prstGeom prst="roundRect">
            <a:avLst>
              <a:gd name="adj" fmla="val 1220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727" name="Google Shape;727;p47"/>
          <p:cNvSpPr txBox="1">
            <a:spLocks noGrp="1"/>
          </p:cNvSpPr>
          <p:nvPr>
            <p:ph type="title"/>
          </p:nvPr>
        </p:nvSpPr>
        <p:spPr>
          <a:xfrm>
            <a:off x="-900608" y="418709"/>
            <a:ext cx="7704000" cy="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000" dirty="0"/>
              <a:t>Заключение</a:t>
            </a:r>
            <a:endParaRPr sz="4000" dirty="0"/>
          </a:p>
        </p:txBody>
      </p:sp>
      <p:cxnSp>
        <p:nvCxnSpPr>
          <p:cNvPr id="742" name="Google Shape;742;p47"/>
          <p:cNvCxnSpPr/>
          <p:nvPr/>
        </p:nvCxnSpPr>
        <p:spPr>
          <a:xfrm>
            <a:off x="827584" y="1347614"/>
            <a:ext cx="0" cy="837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5" name="Google Shape;745;p47"/>
          <p:cNvCxnSpPr/>
          <p:nvPr/>
        </p:nvCxnSpPr>
        <p:spPr>
          <a:xfrm>
            <a:off x="819886" y="3233154"/>
            <a:ext cx="0" cy="837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Прямоугольник 13"/>
          <p:cNvSpPr/>
          <p:nvPr/>
        </p:nvSpPr>
        <p:spPr>
          <a:xfrm>
            <a:off x="897320" y="1666495"/>
            <a:ext cx="5760640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tx1"/>
                </a:solidFill>
              </a:rPr>
              <a:t>В результате командной работы была создана демонстрационная информационная система «Конструктор HTML-рассылок».</a:t>
            </a:r>
          </a:p>
          <a:p>
            <a:endParaRPr lang="ru-RU" sz="11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ru-RU" sz="1100" b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В проекте реализованы:</a:t>
            </a:r>
          </a:p>
          <a:p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визуальный конструктор HTML-шаблонов;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интеграция с базой заказчиков 1С через HTTP-сервис;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добавление нового заказчика;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предпросмотр письма;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сохранение и загрузка HTML-шаблонов;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журнал тестовых отправок;</a:t>
            </a:r>
            <a:b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ru-RU" sz="11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– пользовательская и администраторская документация.</a:t>
            </a:r>
          </a:p>
        </p:txBody>
      </p:sp>
      <p:cxnSp>
        <p:nvCxnSpPr>
          <p:cNvPr id="35" name="Google Shape;824;p52"/>
          <p:cNvCxnSpPr/>
          <p:nvPr/>
        </p:nvCxnSpPr>
        <p:spPr>
          <a:xfrm>
            <a:off x="4139952" y="4743707"/>
            <a:ext cx="17175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824;p52"/>
          <p:cNvCxnSpPr/>
          <p:nvPr/>
        </p:nvCxnSpPr>
        <p:spPr>
          <a:xfrm>
            <a:off x="6444208" y="4827871"/>
            <a:ext cx="58141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824;p52"/>
          <p:cNvCxnSpPr/>
          <p:nvPr/>
        </p:nvCxnSpPr>
        <p:spPr>
          <a:xfrm>
            <a:off x="6588224" y="767661"/>
            <a:ext cx="207733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27" name="Picture 3" descr="C:\Users\Vikki\Downloads\qr-cod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063" y="2067694"/>
            <a:ext cx="974224" cy="974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Vikki\Downloads\smartphone_4575059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915566"/>
            <a:ext cx="2952328" cy="315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Равнобедренный треугольник 27"/>
          <p:cNvSpPr/>
          <p:nvPr/>
        </p:nvSpPr>
        <p:spPr>
          <a:xfrm rot="928865">
            <a:off x="7646266" y="1236302"/>
            <a:ext cx="144350" cy="14401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7013095" y="4085878"/>
            <a:ext cx="922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GitVerse</a:t>
            </a:r>
            <a:endParaRPr lang="ru-RU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ygamist Cults Thesis Defense by Slidesgo">
  <a:themeElements>
    <a:clrScheme name="Simple Light">
      <a:dk1>
        <a:srgbClr val="FFFFFF"/>
      </a:dk1>
      <a:lt1>
        <a:srgbClr val="D3D0FA"/>
      </a:lt1>
      <a:dk2>
        <a:srgbClr val="6C4386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3D0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255</Words>
  <Application>Microsoft Office PowerPoint</Application>
  <PresentationFormat>Экран (16:9)</PresentationFormat>
  <Paragraphs>51</Paragraphs>
  <Slides>17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8" baseType="lpstr">
      <vt:lpstr>Bebas Neue</vt:lpstr>
      <vt:lpstr>Lexend</vt:lpstr>
      <vt:lpstr>Arial</vt:lpstr>
      <vt:lpstr>Calibri</vt:lpstr>
      <vt:lpstr>Lexend Black</vt:lpstr>
      <vt:lpstr>Cascadia Code</vt:lpstr>
      <vt:lpstr>Lexend Light</vt:lpstr>
      <vt:lpstr>Quicksand</vt:lpstr>
      <vt:lpstr>Nunito Light</vt:lpstr>
      <vt:lpstr>Quicksand Medium</vt:lpstr>
      <vt:lpstr>Polygamist Cults Thesis Defense by Slidesgo</vt:lpstr>
      <vt:lpstr>Конструктор HTML-рассылок (демо)</vt:lpstr>
      <vt:lpstr>Презентация PowerPoint</vt:lpstr>
      <vt:lpstr>Команда проекта</vt:lpstr>
      <vt:lpstr>Аналитика проекта</vt:lpstr>
      <vt:lpstr>Диаграммы</vt:lpstr>
      <vt:lpstr>Презентация PowerPoint</vt:lpstr>
      <vt:lpstr>Проектная документация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1С.База данных</vt:lpstr>
      <vt:lpstr>Backend и интеграция</vt:lpstr>
      <vt:lpstr>Backend и интеграция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Конструктор HTML-рассылок</dc:title>
  <dc:creator>Vikki</dc:creator>
  <cp:lastModifiedBy>V</cp:lastModifiedBy>
  <cp:revision>34</cp:revision>
  <dcterms:modified xsi:type="dcterms:W3CDTF">2026-05-31T20:21:01Z</dcterms:modified>
</cp:coreProperties>
</file>